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87" r:id="rId4"/>
    <p:sldId id="288" r:id="rId5"/>
    <p:sldId id="258" r:id="rId6"/>
    <p:sldId id="259" r:id="rId7"/>
    <p:sldId id="289" r:id="rId8"/>
    <p:sldId id="260" r:id="rId9"/>
    <p:sldId id="290" r:id="rId10"/>
    <p:sldId id="291" r:id="rId11"/>
    <p:sldId id="261" r:id="rId12"/>
    <p:sldId id="262" r:id="rId13"/>
    <p:sldId id="263" r:id="rId14"/>
    <p:sldId id="292" r:id="rId15"/>
    <p:sldId id="293" r:id="rId16"/>
    <p:sldId id="294" r:id="rId17"/>
    <p:sldId id="295" r:id="rId18"/>
    <p:sldId id="296" r:id="rId19"/>
    <p:sldId id="297" r:id="rId20"/>
    <p:sldId id="298" r:id="rId21"/>
    <p:sldId id="264" r:id="rId22"/>
    <p:sldId id="265" r:id="rId23"/>
    <p:sldId id="267" r:id="rId24"/>
    <p:sldId id="269" r:id="rId25"/>
    <p:sldId id="270" r:id="rId26"/>
    <p:sldId id="272" r:id="rId27"/>
    <p:sldId id="273" r:id="rId28"/>
    <p:sldId id="275" r:id="rId29"/>
    <p:sldId id="278" r:id="rId30"/>
    <p:sldId id="280" r:id="rId31"/>
    <p:sldId id="283" r:id="rId32"/>
    <p:sldId id="284"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3354"/>
    <a:srgbClr val="D26A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0" d="100"/>
          <a:sy n="70" d="100"/>
        </p:scale>
        <p:origin x="1810" y="1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676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67743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602231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503591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21963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753932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27360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932029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724632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845097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948453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683785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244467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0.jpe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1.jpeg"/><Relationship Id="rId4" Type="http://schemas.openxmlformats.org/officeDocument/2006/relationships/image" Target="../media/image30.jpe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2.jpe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
        <p:nvSpPr>
          <p:cNvPr id="4" name="Text 0"/>
          <p:cNvSpPr txBox="1"/>
          <p:nvPr/>
        </p:nvSpPr>
        <p:spPr>
          <a:xfrm>
            <a:off x="419475" y="1102175"/>
            <a:ext cx="8254262" cy="3347100"/>
          </a:xfrm>
          <a:prstGeom prst="rect">
            <a:avLst/>
          </a:prstGeom>
          <a:noFill/>
          <a:ln/>
        </p:spPr>
        <p:txBody>
          <a:bodyPr wrap="square" lIns="0" tIns="0" rIns="0" bIns="0" rtlCol="0" anchor="t"/>
          <a:lstStyle/>
          <a:p>
            <a:r>
              <a:rPr lang="ru-RU" sz="3500" b="1" dirty="0">
                <a:solidFill>
                  <a:srgbClr val="1C3354"/>
                </a:solidFill>
                <a:latin typeface="Arial" pitchFamily="34" charset="0"/>
                <a:ea typeface="Arial" pitchFamily="34" charset="-122"/>
                <a:cs typeface="Arial" pitchFamily="34" charset="-120"/>
              </a:rPr>
              <a:t>Сетевой график проекта. Диаграмма </a:t>
            </a:r>
            <a:r>
              <a:rPr lang="ru-RU" sz="3500" b="1" dirty="0" err="1">
                <a:solidFill>
                  <a:srgbClr val="1C3354"/>
                </a:solidFill>
                <a:latin typeface="Arial" pitchFamily="34" charset="0"/>
                <a:ea typeface="Arial" pitchFamily="34" charset="-122"/>
                <a:cs typeface="Arial" pitchFamily="34" charset="-120"/>
              </a:rPr>
              <a:t>Ганта</a:t>
            </a:r>
            <a:r>
              <a:rPr lang="ru-RU" sz="3500" b="1" dirty="0">
                <a:solidFill>
                  <a:srgbClr val="1C3354"/>
                </a:solidFill>
                <a:latin typeface="Arial" pitchFamily="34" charset="0"/>
                <a:ea typeface="Arial" pitchFamily="34" charset="-122"/>
                <a:cs typeface="Arial" pitchFamily="34" charset="-120"/>
              </a:rPr>
              <a:t>. Понятие и виды ресурсов проекта. Оценка</a:t>
            </a:r>
          </a:p>
          <a:p>
            <a:r>
              <a:rPr lang="ru-RU" sz="3500" b="1" dirty="0">
                <a:solidFill>
                  <a:srgbClr val="1C3354"/>
                </a:solidFill>
                <a:latin typeface="Arial" pitchFamily="34" charset="0"/>
                <a:ea typeface="Arial" pitchFamily="34" charset="-122"/>
                <a:cs typeface="Arial" pitchFamily="34" charset="-120"/>
              </a:rPr>
              <a:t>потребности в ресурсах. Оценка стоимости проекта. Источники финансирование проекта.</a:t>
            </a:r>
            <a:r>
              <a:rPr lang="en-US" sz="3500" b="1" dirty="0">
                <a:solidFill>
                  <a:srgbClr val="1C3354"/>
                </a:solidFill>
                <a:latin typeface="Arial" pitchFamily="34" charset="0"/>
                <a:ea typeface="Arial" pitchFamily="34" charset="-122"/>
                <a:cs typeface="Arial" pitchFamily="34" charset="-120"/>
              </a:rPr>
              <a:t>
</a:t>
            </a:r>
            <a:r>
              <a:rPr lang="en-US" sz="1800" b="1" dirty="0">
                <a:solidFill>
                  <a:srgbClr val="1C3354"/>
                </a:solidFill>
                <a:latin typeface="Arial" pitchFamily="34" charset="0"/>
                <a:ea typeface="Arial" pitchFamily="34" charset="-122"/>
                <a:cs typeface="Arial" pitchFamily="34" charset="-120"/>
              </a:rPr>
              <a:t>
</a:t>
            </a:r>
            <a:r>
              <a:rPr lang="en-US" sz="1500" dirty="0">
                <a:solidFill>
                  <a:srgbClr val="1C3354"/>
                </a:solidFill>
                <a:latin typeface="Arial" pitchFamily="34" charset="0"/>
                <a:ea typeface="Arial" pitchFamily="34" charset="-122"/>
                <a:cs typeface="Arial" pitchFamily="34" charset="-120"/>
              </a:rPr>
              <a:t>
</a:t>
            </a:r>
            <a:r>
              <a:rPr lang="en-US" sz="1200" i="1" dirty="0">
                <a:solidFill>
                  <a:srgbClr val="1C3354"/>
                </a:solidFill>
                <a:latin typeface="Arial" pitchFamily="34" charset="0"/>
                <a:ea typeface="Arial" pitchFamily="34" charset="-122"/>
                <a:cs typeface="Arial" pitchFamily="34" charset="-120"/>
              </a:rPr>
              <a:t>
</a:t>
            </a:r>
            <a:endParaRPr lang="en-US" sz="3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81" y="0"/>
            <a:ext cx="4639039" cy="51411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pic>
        <p:nvPicPr>
          <p:cNvPr id="4" name="Image 2" descr="preencoded.png"/>
          <p:cNvPicPr>
            <a:picLocks noChangeAspect="1"/>
          </p:cNvPicPr>
          <p:nvPr/>
        </p:nvPicPr>
        <p:blipFill>
          <a:blip r:embed="rId5"/>
          <a:stretch>
            <a:fillRect/>
          </a:stretch>
        </p:blipFill>
        <p:spPr>
          <a:xfrm>
            <a:off x="0" y="0"/>
            <a:ext cx="9144000" cy="5143500"/>
          </a:xfrm>
          <a:prstGeom prst="rect">
            <a:avLst/>
          </a:prstGeom>
        </p:spPr>
      </p:pic>
      <p:sp>
        <p:nvSpPr>
          <p:cNvPr id="5" name="Text 0"/>
          <p:cNvSpPr txBox="1"/>
          <p:nvPr/>
        </p:nvSpPr>
        <p:spPr>
          <a:xfrm>
            <a:off x="8492100"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E6E9EF"/>
                </a:solidFill>
                <a:latin typeface="Arial" pitchFamily="34" charset="0"/>
                <a:ea typeface="Arial" pitchFamily="34" charset="-122"/>
                <a:cs typeface="Arial" pitchFamily="34" charset="-120"/>
              </a:rPr>
              <a:t>2</a:t>
            </a:r>
            <a:endParaRPr lang="en-US" sz="1200" dirty="0"/>
          </a:p>
        </p:txBody>
      </p:sp>
      <p:sp>
        <p:nvSpPr>
          <p:cNvPr id="6" name="Text 1"/>
          <p:cNvSpPr txBox="1"/>
          <p:nvPr/>
        </p:nvSpPr>
        <p:spPr>
          <a:xfrm>
            <a:off x="4874675" y="905675"/>
            <a:ext cx="4090500" cy="3416100"/>
          </a:xfrm>
          <a:prstGeom prst="rect">
            <a:avLst/>
          </a:prstGeom>
          <a:noFill/>
          <a:ln/>
        </p:spPr>
        <p:txBody>
          <a:bodyPr wrap="square" lIns="0" tIns="0" rIns="0" bIns="0" rtlCol="0" anchor="ctr"/>
          <a:lstStyle/>
          <a:p>
            <a:pPr marL="0" indent="0" algn="l">
              <a:lnSpc>
                <a:spcPct val="100000"/>
              </a:lnSpc>
              <a:buNone/>
            </a:pPr>
            <a:r>
              <a:rPr lang="en-US" sz="2500" b="1" dirty="0">
                <a:solidFill>
                  <a:srgbClr val="1C3354"/>
                </a:solidFill>
                <a:latin typeface="Arial" pitchFamily="34" charset="0"/>
                <a:ea typeface="Arial" pitchFamily="34" charset="-122"/>
                <a:cs typeface="Arial" pitchFamily="34" charset="-120"/>
              </a:rPr>
              <a:t>Важность ресурсного планирования в успешных проектах
</a:t>
            </a:r>
            <a:r>
              <a:rPr lang="en-US" sz="1200" dirty="0">
                <a:solidFill>
                  <a:srgbClr val="1C3354"/>
                </a:solidFill>
                <a:latin typeface="Arial" pitchFamily="34" charset="0"/>
                <a:ea typeface="Arial" pitchFamily="34" charset="-122"/>
                <a:cs typeface="Arial" pitchFamily="34" charset="-120"/>
              </a:rPr>
              <a:t>Точное планирование ресурсов и финансов обеспечивает соблюдение сроков и качество реализации проектов. Ошибки в оценках часто вызывают задержки и перерасход бюджетов, что подчеркивает значимость комплексного управления ресурсами.
</a:t>
            </a:r>
            <a:endParaRPr lang="en-US" sz="2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49654" y="-223520"/>
            <a:ext cx="9393653" cy="5367020"/>
          </a:xfrm>
          <a:prstGeom prst="rect">
            <a:avLst/>
          </a:prstGeom>
        </p:spPr>
      </p:pic>
      <p:sp>
        <p:nvSpPr>
          <p:cNvPr id="5" name="Text 0"/>
          <p:cNvSpPr txBox="1"/>
          <p:nvPr/>
        </p:nvSpPr>
        <p:spPr>
          <a:xfrm>
            <a:off x="8492100"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E6E9EF"/>
                </a:solidFill>
                <a:latin typeface="Arial" pitchFamily="34" charset="0"/>
                <a:ea typeface="Arial" pitchFamily="34" charset="-122"/>
                <a:cs typeface="Arial" pitchFamily="34" charset="-120"/>
              </a:rPr>
              <a:t>3</a:t>
            </a:r>
            <a:endParaRPr lang="en-US" sz="1200" dirty="0"/>
          </a:p>
        </p:txBody>
      </p:sp>
      <p:sp>
        <p:nvSpPr>
          <p:cNvPr id="7" name="Прямоугольник 6">
            <a:extLst>
              <a:ext uri="{FF2B5EF4-FFF2-40B4-BE49-F238E27FC236}">
                <a16:creationId xmlns:a16="http://schemas.microsoft.com/office/drawing/2014/main" id="{76E36B24-AE38-411C-B94E-7342D4ECEF20}"/>
              </a:ext>
            </a:extLst>
          </p:cNvPr>
          <p:cNvSpPr/>
          <p:nvPr/>
        </p:nvSpPr>
        <p:spPr>
          <a:xfrm>
            <a:off x="486832" y="680204"/>
            <a:ext cx="8271087" cy="3693319"/>
          </a:xfrm>
          <a:prstGeom prst="rect">
            <a:avLst/>
          </a:prstGeom>
        </p:spPr>
        <p:txBody>
          <a:bodyPr wrap="square">
            <a:spAutoFit/>
          </a:bodyPr>
          <a:lstStyle/>
          <a:p>
            <a:r>
              <a:rPr lang="ru-RU" b="1" dirty="0">
                <a:solidFill>
                  <a:srgbClr val="1C3354"/>
                </a:solidFill>
                <a:latin typeface="Arial" pitchFamily="34" charset="0"/>
                <a:ea typeface="Arial" pitchFamily="34" charset="-122"/>
                <a:cs typeface="Arial" pitchFamily="34" charset="-120"/>
              </a:rPr>
              <a:t>Сетевой график - </a:t>
            </a:r>
            <a:r>
              <a:rPr lang="ru-RU" dirty="0">
                <a:solidFill>
                  <a:srgbClr val="1C3354"/>
                </a:solidFill>
                <a:latin typeface="Arial" pitchFamily="34" charset="0"/>
                <a:ea typeface="Arial" pitchFamily="34" charset="-122"/>
                <a:cs typeface="Arial" pitchFamily="34" charset="-120"/>
              </a:rPr>
              <a:t>информационно-динамическая модель, отражающая взаимосвязи между работами, необходимые для достижения конечной цели проекта.</a:t>
            </a:r>
          </a:p>
          <a:p>
            <a:endParaRPr lang="ru-RU" dirty="0">
              <a:solidFill>
                <a:srgbClr val="1C3354"/>
              </a:solidFill>
              <a:latin typeface="Arial" pitchFamily="34" charset="0"/>
              <a:ea typeface="Arial" pitchFamily="34" charset="-122"/>
              <a:cs typeface="Arial" pitchFamily="34" charset="-120"/>
            </a:endParaRPr>
          </a:p>
          <a:p>
            <a:r>
              <a:rPr lang="ru-RU" b="1" dirty="0">
                <a:solidFill>
                  <a:srgbClr val="1C3354"/>
                </a:solidFill>
                <a:latin typeface="Arial" pitchFamily="34" charset="0"/>
                <a:ea typeface="Arial" pitchFamily="34" charset="-122"/>
                <a:cs typeface="Arial" pitchFamily="34" charset="-120"/>
              </a:rPr>
              <a:t>Работами</a:t>
            </a:r>
            <a:r>
              <a:rPr lang="ru-RU" dirty="0">
                <a:solidFill>
                  <a:srgbClr val="1C3354"/>
                </a:solidFill>
                <a:latin typeface="Arial" pitchFamily="34" charset="0"/>
                <a:ea typeface="Arial" pitchFamily="34" charset="-122"/>
                <a:cs typeface="Arial" pitchFamily="34" charset="-120"/>
              </a:rPr>
              <a:t> являются любые действия, приводящие к достижению определенных результатов – </a:t>
            </a:r>
            <a:r>
              <a:rPr lang="ru-RU" b="1" dirty="0">
                <a:solidFill>
                  <a:srgbClr val="1C3354"/>
                </a:solidFill>
                <a:latin typeface="Arial" pitchFamily="34" charset="0"/>
                <a:ea typeface="Arial" pitchFamily="34" charset="-122"/>
                <a:cs typeface="Arial" pitchFamily="34" charset="-120"/>
              </a:rPr>
              <a:t>событий</a:t>
            </a:r>
            <a:r>
              <a:rPr lang="ru-RU" dirty="0">
                <a:solidFill>
                  <a:srgbClr val="1C3354"/>
                </a:solidFill>
                <a:latin typeface="Arial" pitchFamily="34" charset="0"/>
                <a:ea typeface="Arial" pitchFamily="34" charset="-122"/>
                <a:cs typeface="Arial" pitchFamily="34" charset="-120"/>
              </a:rPr>
              <a:t>. </a:t>
            </a:r>
          </a:p>
          <a:p>
            <a:endParaRPr lang="ru-RU" dirty="0">
              <a:solidFill>
                <a:srgbClr val="1C3354"/>
              </a:solidFill>
              <a:latin typeface="Arial" pitchFamily="34" charset="0"/>
              <a:ea typeface="Arial" pitchFamily="34" charset="-122"/>
              <a:cs typeface="Arial" pitchFamily="34" charset="-120"/>
            </a:endParaRPr>
          </a:p>
          <a:p>
            <a:r>
              <a:rPr lang="ru-RU" dirty="0">
                <a:solidFill>
                  <a:srgbClr val="1C3354"/>
                </a:solidFill>
                <a:latin typeface="Arial" pitchFamily="34" charset="0"/>
                <a:ea typeface="Arial" pitchFamily="34" charset="-122"/>
                <a:cs typeface="Arial" pitchFamily="34" charset="-120"/>
              </a:rPr>
              <a:t>События, кроме исходного, являются результатами выполнения работ.</a:t>
            </a:r>
          </a:p>
          <a:p>
            <a:r>
              <a:rPr lang="ru-RU" dirty="0">
                <a:solidFill>
                  <a:srgbClr val="1C3354"/>
                </a:solidFill>
                <a:latin typeface="Arial" pitchFamily="34" charset="0"/>
                <a:ea typeface="Arial" pitchFamily="34" charset="-122"/>
                <a:cs typeface="Arial" pitchFamily="34" charset="-120"/>
              </a:rPr>
              <a:t> </a:t>
            </a:r>
          </a:p>
          <a:p>
            <a:r>
              <a:rPr lang="ru-RU" dirty="0">
                <a:solidFill>
                  <a:srgbClr val="1C3354"/>
                </a:solidFill>
                <a:latin typeface="Arial" pitchFamily="34" charset="0"/>
                <a:ea typeface="Arial" pitchFamily="34" charset="-122"/>
                <a:cs typeface="Arial" pitchFamily="34" charset="-120"/>
              </a:rPr>
              <a:t>Между двумя смежными событиями может выполняться только одна работа или последовательность работ.</a:t>
            </a:r>
          </a:p>
          <a:p>
            <a:endParaRPr lang="ru-RU" dirty="0">
              <a:solidFill>
                <a:srgbClr val="1C3354"/>
              </a:solidFill>
              <a:latin typeface="Arial" pitchFamily="34" charset="0"/>
              <a:ea typeface="Arial" pitchFamily="34" charset="-122"/>
              <a:cs typeface="Arial" pitchFamily="34" charset="-120"/>
            </a:endParaRPr>
          </a:p>
          <a:p>
            <a:endParaRPr lang="ru-RU" dirty="0"/>
          </a:p>
        </p:txBody>
      </p:sp>
    </p:spTree>
    <p:extLst>
      <p:ext uri="{BB962C8B-B14F-4D97-AF65-F5344CB8AC3E}">
        <p14:creationId xmlns:p14="http://schemas.microsoft.com/office/powerpoint/2010/main" val="1079981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49654" y="-223520"/>
            <a:ext cx="9393653" cy="5367020"/>
          </a:xfrm>
          <a:prstGeom prst="rect">
            <a:avLst/>
          </a:prstGeom>
        </p:spPr>
      </p:pic>
      <p:sp>
        <p:nvSpPr>
          <p:cNvPr id="5" name="Text 0"/>
          <p:cNvSpPr txBox="1"/>
          <p:nvPr/>
        </p:nvSpPr>
        <p:spPr>
          <a:xfrm>
            <a:off x="8492100"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E6E9EF"/>
                </a:solidFill>
                <a:latin typeface="Arial" pitchFamily="34" charset="0"/>
                <a:ea typeface="Arial" pitchFamily="34" charset="-122"/>
                <a:cs typeface="Arial" pitchFamily="34" charset="-120"/>
              </a:rPr>
              <a:t>4</a:t>
            </a:r>
            <a:endParaRPr lang="en-US" sz="1200" dirty="0"/>
          </a:p>
        </p:txBody>
      </p:sp>
      <p:sp>
        <p:nvSpPr>
          <p:cNvPr id="7" name="Прямоугольник 6">
            <a:extLst>
              <a:ext uri="{FF2B5EF4-FFF2-40B4-BE49-F238E27FC236}">
                <a16:creationId xmlns:a16="http://schemas.microsoft.com/office/drawing/2014/main" id="{76E36B24-AE38-411C-B94E-7342D4ECEF20}"/>
              </a:ext>
            </a:extLst>
          </p:cNvPr>
          <p:cNvSpPr/>
          <p:nvPr/>
        </p:nvSpPr>
        <p:spPr>
          <a:xfrm>
            <a:off x="486832" y="680204"/>
            <a:ext cx="8271087" cy="3139321"/>
          </a:xfrm>
          <a:prstGeom prst="rect">
            <a:avLst/>
          </a:prstGeom>
        </p:spPr>
        <p:txBody>
          <a:bodyPr wrap="square">
            <a:spAutoFit/>
          </a:bodyPr>
          <a:lstStyle/>
          <a:p>
            <a:r>
              <a:rPr lang="ru-RU" b="1" dirty="0">
                <a:solidFill>
                  <a:srgbClr val="1C3354"/>
                </a:solidFill>
                <a:latin typeface="Arial" pitchFamily="34" charset="0"/>
                <a:ea typeface="Arial" pitchFamily="34" charset="-122"/>
                <a:cs typeface="Arial" pitchFamily="34" charset="-120"/>
              </a:rPr>
              <a:t>Путь –  </a:t>
            </a:r>
            <a:r>
              <a:rPr lang="ru-RU" dirty="0">
                <a:solidFill>
                  <a:srgbClr val="1C3354"/>
                </a:solidFill>
                <a:latin typeface="Arial" pitchFamily="34" charset="0"/>
                <a:ea typeface="Arial" pitchFamily="34" charset="-122"/>
                <a:cs typeface="Arial" pitchFamily="34" charset="-120"/>
              </a:rPr>
              <a:t>последовательность взаимосвязанных работ, ведущая из одной вершины проекта в другую вершину. </a:t>
            </a:r>
          </a:p>
          <a:p>
            <a:endParaRPr lang="ru-RU" b="1" dirty="0">
              <a:solidFill>
                <a:srgbClr val="1C3354"/>
              </a:solidFill>
              <a:latin typeface="Arial" pitchFamily="34" charset="0"/>
              <a:ea typeface="Arial" pitchFamily="34" charset="-122"/>
              <a:cs typeface="Arial" pitchFamily="34" charset="-120"/>
            </a:endParaRPr>
          </a:p>
          <a:p>
            <a:r>
              <a:rPr lang="ru-RU" b="1" dirty="0">
                <a:solidFill>
                  <a:srgbClr val="1C3354"/>
                </a:solidFill>
                <a:latin typeface="Arial" pitchFamily="34" charset="0"/>
                <a:ea typeface="Arial" pitchFamily="34" charset="-122"/>
                <a:cs typeface="Arial" pitchFamily="34" charset="-120"/>
              </a:rPr>
              <a:t>Длина пути – </a:t>
            </a:r>
            <a:r>
              <a:rPr lang="ru-RU" dirty="0">
                <a:solidFill>
                  <a:srgbClr val="1C3354"/>
                </a:solidFill>
                <a:latin typeface="Arial" pitchFamily="34" charset="0"/>
                <a:ea typeface="Arial" pitchFamily="34" charset="-122"/>
                <a:cs typeface="Arial" pitchFamily="34" charset="-120"/>
              </a:rPr>
              <a:t>суммарная продолжительность выполнения всех работ пути.</a:t>
            </a:r>
          </a:p>
          <a:p>
            <a:endParaRPr lang="ru-RU" b="1" dirty="0">
              <a:solidFill>
                <a:srgbClr val="1C3354"/>
              </a:solidFill>
              <a:latin typeface="Arial" pitchFamily="34" charset="0"/>
              <a:ea typeface="Arial" pitchFamily="34" charset="-122"/>
              <a:cs typeface="Arial" pitchFamily="34" charset="-120"/>
            </a:endParaRPr>
          </a:p>
          <a:p>
            <a:r>
              <a:rPr lang="ru-RU" b="1" dirty="0">
                <a:solidFill>
                  <a:srgbClr val="1C3354"/>
                </a:solidFill>
                <a:latin typeface="Arial" pitchFamily="34" charset="0"/>
                <a:ea typeface="Arial" pitchFamily="34" charset="-122"/>
                <a:cs typeface="Arial" pitchFamily="34" charset="-120"/>
              </a:rPr>
              <a:t>Полный путь – </a:t>
            </a:r>
            <a:r>
              <a:rPr lang="ru-RU" dirty="0">
                <a:solidFill>
                  <a:srgbClr val="1C3354"/>
                </a:solidFill>
                <a:latin typeface="Arial" pitchFamily="34" charset="0"/>
                <a:ea typeface="Arial" pitchFamily="34" charset="-122"/>
                <a:cs typeface="Arial" pitchFamily="34" charset="-120"/>
              </a:rPr>
              <a:t>это путь от исходного к завершающему событию.</a:t>
            </a:r>
          </a:p>
          <a:p>
            <a:endParaRPr lang="ru-RU" b="1" dirty="0">
              <a:solidFill>
                <a:srgbClr val="1C3354"/>
              </a:solidFill>
              <a:latin typeface="Arial" pitchFamily="34" charset="0"/>
              <a:ea typeface="Arial" pitchFamily="34" charset="-122"/>
              <a:cs typeface="Arial" pitchFamily="34" charset="-120"/>
            </a:endParaRPr>
          </a:p>
          <a:p>
            <a:r>
              <a:rPr lang="ru-RU" b="1" dirty="0">
                <a:solidFill>
                  <a:srgbClr val="1C3354"/>
                </a:solidFill>
                <a:latin typeface="Arial" pitchFamily="34" charset="0"/>
                <a:ea typeface="Arial" pitchFamily="34" charset="-122"/>
                <a:cs typeface="Arial" pitchFamily="34" charset="-120"/>
              </a:rPr>
              <a:t>Критический путь – </a:t>
            </a:r>
            <a:r>
              <a:rPr lang="ru-RU" dirty="0">
                <a:solidFill>
                  <a:srgbClr val="1C3354"/>
                </a:solidFill>
                <a:latin typeface="Arial" pitchFamily="34" charset="0"/>
                <a:ea typeface="Arial" pitchFamily="34" charset="-122"/>
                <a:cs typeface="Arial" pitchFamily="34" charset="-120"/>
              </a:rPr>
              <a:t>полный путь, суммарная продолжительность выполнения всех работ которого является наибольшей.</a:t>
            </a:r>
          </a:p>
          <a:p>
            <a:endParaRPr lang="ru-RU" dirty="0">
              <a:solidFill>
                <a:srgbClr val="1C3354"/>
              </a:solidFill>
              <a:latin typeface="Arial" pitchFamily="34" charset="0"/>
              <a:ea typeface="Arial" pitchFamily="34" charset="-122"/>
              <a:cs typeface="Arial" pitchFamily="34" charset="-120"/>
            </a:endParaRPr>
          </a:p>
          <a:p>
            <a:endParaRPr lang="ru-RU" dirty="0"/>
          </a:p>
        </p:txBody>
      </p:sp>
    </p:spTree>
    <p:extLst>
      <p:ext uri="{BB962C8B-B14F-4D97-AF65-F5344CB8AC3E}">
        <p14:creationId xmlns:p14="http://schemas.microsoft.com/office/powerpoint/2010/main" val="3975066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pic>
        <p:nvPicPr>
          <p:cNvPr id="4" name="Image 2" descr="preencoded.png"/>
          <p:cNvPicPr>
            <a:picLocks noChangeAspect="1"/>
          </p:cNvPicPr>
          <p:nvPr/>
        </p:nvPicPr>
        <p:blipFill>
          <a:blip r:embed="rId5"/>
          <a:stretch>
            <a:fillRect/>
          </a:stretch>
        </p:blipFill>
        <p:spPr>
          <a:xfrm>
            <a:off x="0" y="0"/>
            <a:ext cx="9144000" cy="5143500"/>
          </a:xfrm>
          <a:prstGeom prst="rect">
            <a:avLst/>
          </a:prstGeom>
        </p:spPr>
      </p:pic>
      <p:pic>
        <p:nvPicPr>
          <p:cNvPr id="5" name="Image 3" descr="preencoded.png"/>
          <p:cNvPicPr>
            <a:picLocks noChangeAspect="1"/>
          </p:cNvPicPr>
          <p:nvPr/>
        </p:nvPicPr>
        <p:blipFill>
          <a:blip r:embed="rId6"/>
          <a:stretch>
            <a:fillRect/>
          </a:stretch>
        </p:blipFill>
        <p:spPr>
          <a:xfrm>
            <a:off x="0" y="0"/>
            <a:ext cx="9144000" cy="5143500"/>
          </a:xfrm>
          <a:prstGeom prst="rect">
            <a:avLst/>
          </a:prstGeom>
        </p:spPr>
      </p:pic>
      <p:pic>
        <p:nvPicPr>
          <p:cNvPr id="6" name="Image 4" descr="preencoded.png"/>
          <p:cNvPicPr>
            <a:picLocks noChangeAspect="1"/>
          </p:cNvPicPr>
          <p:nvPr/>
        </p:nvPicPr>
        <p:blipFill>
          <a:blip r:embed="rId7"/>
          <a:stretch>
            <a:fillRect/>
          </a:stretch>
        </p:blipFill>
        <p:spPr>
          <a:xfrm>
            <a:off x="0" y="0"/>
            <a:ext cx="9144000" cy="5143500"/>
          </a:xfrm>
          <a:prstGeom prst="rect">
            <a:avLst/>
          </a:prstGeom>
        </p:spPr>
      </p:pic>
      <p:pic>
        <p:nvPicPr>
          <p:cNvPr id="7" name="Image 5" descr="preencoded.png"/>
          <p:cNvPicPr>
            <a:picLocks noChangeAspect="1"/>
          </p:cNvPicPr>
          <p:nvPr/>
        </p:nvPicPr>
        <p:blipFill>
          <a:blip r:embed="rId8"/>
          <a:stretch>
            <a:fillRect/>
          </a:stretch>
        </p:blipFill>
        <p:spPr>
          <a:xfrm>
            <a:off x="0" y="0"/>
            <a:ext cx="9144000" cy="5143500"/>
          </a:xfrm>
          <a:prstGeom prst="rect">
            <a:avLst/>
          </a:prstGeom>
        </p:spPr>
      </p:pic>
      <p:sp>
        <p:nvSpPr>
          <p:cNvPr id="8" name="Text 0"/>
          <p:cNvSpPr txBox="1"/>
          <p:nvPr/>
        </p:nvSpPr>
        <p:spPr>
          <a:xfrm>
            <a:off x="235550" y="475796"/>
            <a:ext cx="8115300" cy="804600"/>
          </a:xfrm>
          <a:prstGeom prst="rect">
            <a:avLst/>
          </a:prstGeom>
          <a:noFill/>
          <a:ln/>
        </p:spPr>
        <p:txBody>
          <a:bodyPr wrap="square" lIns="0" tIns="0" rIns="0" bIns="0" rtlCol="0" anchor="t"/>
          <a:lstStyle/>
          <a:p>
            <a:pPr marL="0" indent="0" algn="l">
              <a:lnSpc>
                <a:spcPct val="120000"/>
              </a:lnSpc>
              <a:buNone/>
            </a:pPr>
            <a:r>
              <a:rPr lang="en-US" sz="2640" b="1" dirty="0">
                <a:solidFill>
                  <a:srgbClr val="1C3354"/>
                </a:solidFill>
                <a:latin typeface="Arial" pitchFamily="34" charset="0"/>
                <a:ea typeface="Arial" pitchFamily="34" charset="-122"/>
                <a:cs typeface="Arial" pitchFamily="34" charset="-120"/>
              </a:rPr>
              <a:t>Основные этапы создания сетевого графика проекта
</a:t>
            </a:r>
            <a:endParaRPr lang="en-US" sz="2640" dirty="0"/>
          </a:p>
        </p:txBody>
      </p:sp>
      <p:sp>
        <p:nvSpPr>
          <p:cNvPr id="9" name="Text 1"/>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cs typeface="Arial" pitchFamily="34" charset="-120"/>
              </a:rPr>
              <a:t>5</a:t>
            </a:r>
            <a:endParaRPr lang="en-US" sz="1200" dirty="0"/>
          </a:p>
        </p:txBody>
      </p:sp>
      <p:sp>
        <p:nvSpPr>
          <p:cNvPr id="10" name="Text 2"/>
          <p:cNvSpPr txBox="1"/>
          <p:nvPr/>
        </p:nvSpPr>
        <p:spPr>
          <a:xfrm>
            <a:off x="603850" y="1859650"/>
            <a:ext cx="2334300" cy="967200"/>
          </a:xfrm>
          <a:prstGeom prst="rect">
            <a:avLst/>
          </a:prstGeom>
          <a:noFill/>
          <a:ln/>
        </p:spPr>
        <p:txBody>
          <a:bodyPr wrap="square" lIns="0" tIns="0" rIns="0" bIns="0" rtlCol="0" anchor="t"/>
          <a:lstStyle/>
          <a:p>
            <a:pPr marL="0" indent="0" algn="l">
              <a:lnSpc>
                <a:spcPct val="100000"/>
              </a:lnSpc>
              <a:buNone/>
            </a:pPr>
            <a:r>
              <a:rPr lang="en-US" sz="1300" b="1" dirty="0">
                <a:solidFill>
                  <a:srgbClr val="1E3950"/>
                </a:solidFill>
                <a:latin typeface="Arial" pitchFamily="34" charset="0"/>
                <a:ea typeface="Arial" pitchFamily="34" charset="-122"/>
                <a:cs typeface="Arial" pitchFamily="34" charset="-120"/>
              </a:rPr>
              <a:t>Определение задач и событий
</a:t>
            </a:r>
            <a:r>
              <a:rPr lang="en-US" sz="600" b="1" dirty="0">
                <a:solidFill>
                  <a:srgbClr val="1E3950"/>
                </a:solidFill>
                <a:latin typeface="Arial" pitchFamily="34" charset="0"/>
                <a:ea typeface="Arial" pitchFamily="34" charset="-122"/>
                <a:cs typeface="Arial" pitchFamily="34" charset="-120"/>
              </a:rPr>
              <a:t>
</a:t>
            </a:r>
            <a:r>
              <a:rPr lang="en-US" sz="1000" dirty="0">
                <a:solidFill>
                  <a:srgbClr val="1C3354"/>
                </a:solidFill>
                <a:latin typeface="Arial" pitchFamily="34" charset="0"/>
                <a:ea typeface="Arial" pitchFamily="34" charset="-122"/>
                <a:cs typeface="Arial" pitchFamily="34" charset="-120"/>
              </a:rPr>
              <a:t>Формулирование всех работ и ключевых точек, которые нужно отразить в графике для полного описания проекта.
</a:t>
            </a:r>
            <a:endParaRPr lang="en-US" sz="1300" dirty="0"/>
          </a:p>
        </p:txBody>
      </p:sp>
      <p:sp>
        <p:nvSpPr>
          <p:cNvPr id="11" name="Text 3"/>
          <p:cNvSpPr txBox="1"/>
          <p:nvPr/>
        </p:nvSpPr>
        <p:spPr>
          <a:xfrm>
            <a:off x="2192550" y="3540375"/>
            <a:ext cx="2334300" cy="967200"/>
          </a:xfrm>
          <a:prstGeom prst="rect">
            <a:avLst/>
          </a:prstGeom>
          <a:noFill/>
          <a:ln/>
        </p:spPr>
        <p:txBody>
          <a:bodyPr wrap="square" lIns="0" tIns="0" rIns="0" bIns="0" rtlCol="0" anchor="t"/>
          <a:lstStyle/>
          <a:p>
            <a:pPr marL="0" indent="0" algn="l">
              <a:lnSpc>
                <a:spcPct val="100000"/>
              </a:lnSpc>
              <a:buNone/>
            </a:pPr>
            <a:r>
              <a:rPr lang="en-US" sz="1300" b="1" dirty="0">
                <a:solidFill>
                  <a:srgbClr val="1E3950"/>
                </a:solidFill>
                <a:latin typeface="Arial" pitchFamily="34" charset="0"/>
                <a:ea typeface="Arial" pitchFamily="34" charset="-122"/>
                <a:cs typeface="Arial" pitchFamily="34" charset="-120"/>
              </a:rPr>
              <a:t>Установление последовательностей
</a:t>
            </a:r>
            <a:r>
              <a:rPr lang="en-US" sz="600" b="1" dirty="0">
                <a:solidFill>
                  <a:srgbClr val="1E3950"/>
                </a:solidFill>
                <a:latin typeface="Arial" pitchFamily="34" charset="0"/>
                <a:ea typeface="Arial" pitchFamily="34" charset="-122"/>
                <a:cs typeface="Arial" pitchFamily="34" charset="-120"/>
              </a:rPr>
              <a:t>
</a:t>
            </a:r>
            <a:r>
              <a:rPr lang="en-US" sz="1000" dirty="0">
                <a:solidFill>
                  <a:srgbClr val="1C3355"/>
                </a:solidFill>
                <a:latin typeface="Arial" pitchFamily="34" charset="0"/>
                <a:ea typeface="Arial" pitchFamily="34" charset="-122"/>
                <a:cs typeface="Arial" pitchFamily="34" charset="-120"/>
              </a:rPr>
              <a:t>Выявление логических связей и зависимостей между задачами для отображения порядка выполнения.
</a:t>
            </a:r>
            <a:endParaRPr lang="en-US" sz="1300" dirty="0"/>
          </a:p>
        </p:txBody>
      </p:sp>
      <p:sp>
        <p:nvSpPr>
          <p:cNvPr id="12" name="Text 4"/>
          <p:cNvSpPr txBox="1"/>
          <p:nvPr/>
        </p:nvSpPr>
        <p:spPr>
          <a:xfrm>
            <a:off x="3783200" y="1859675"/>
            <a:ext cx="2334300" cy="967200"/>
          </a:xfrm>
          <a:prstGeom prst="rect">
            <a:avLst/>
          </a:prstGeom>
          <a:noFill/>
          <a:ln/>
        </p:spPr>
        <p:txBody>
          <a:bodyPr wrap="square" lIns="0" tIns="0" rIns="0" bIns="0" rtlCol="0" anchor="t"/>
          <a:lstStyle/>
          <a:p>
            <a:pPr marL="0" indent="0" algn="l">
              <a:lnSpc>
                <a:spcPct val="100000"/>
              </a:lnSpc>
              <a:buNone/>
            </a:pPr>
            <a:r>
              <a:rPr lang="en-US" sz="1300" b="1" dirty="0">
                <a:solidFill>
                  <a:srgbClr val="1C3354"/>
                </a:solidFill>
                <a:latin typeface="Arial" pitchFamily="34" charset="0"/>
                <a:ea typeface="Arial" pitchFamily="34" charset="-122"/>
                <a:cs typeface="Arial" pitchFamily="34" charset="-120"/>
              </a:rPr>
              <a:t>Построение узлов и дуг
</a:t>
            </a:r>
            <a:r>
              <a:rPr lang="en-US" sz="600" b="1" dirty="0">
                <a:solidFill>
                  <a:srgbClr val="1C3354"/>
                </a:solidFill>
                <a:latin typeface="Arial" pitchFamily="34" charset="0"/>
                <a:ea typeface="Arial" pitchFamily="34" charset="-122"/>
                <a:cs typeface="Arial" pitchFamily="34" charset="-120"/>
              </a:rPr>
              <a:t>
</a:t>
            </a:r>
            <a:r>
              <a:rPr lang="en-US" sz="1000" dirty="0">
                <a:solidFill>
                  <a:srgbClr val="1C3354"/>
                </a:solidFill>
                <a:latin typeface="Arial" pitchFamily="34" charset="0"/>
                <a:ea typeface="Arial" pitchFamily="34" charset="-122"/>
                <a:cs typeface="Arial" pitchFamily="34" charset="-120"/>
              </a:rPr>
              <a:t>Создание визуальной схемы с узлами (событиями) и дугами (работами) для отражения проекта.
</a:t>
            </a:r>
            <a:endParaRPr lang="en-US" sz="1300" dirty="0"/>
          </a:p>
        </p:txBody>
      </p:sp>
      <p:sp>
        <p:nvSpPr>
          <p:cNvPr id="13" name="Text 5"/>
          <p:cNvSpPr txBox="1"/>
          <p:nvPr/>
        </p:nvSpPr>
        <p:spPr>
          <a:xfrm>
            <a:off x="5401400" y="3540375"/>
            <a:ext cx="2334300" cy="967200"/>
          </a:xfrm>
          <a:prstGeom prst="rect">
            <a:avLst/>
          </a:prstGeom>
          <a:noFill/>
          <a:ln/>
        </p:spPr>
        <p:txBody>
          <a:bodyPr wrap="square" lIns="0" tIns="0" rIns="0" bIns="0" rtlCol="0" anchor="t"/>
          <a:lstStyle/>
          <a:p>
            <a:pPr marL="0" indent="0" algn="l">
              <a:lnSpc>
                <a:spcPct val="100000"/>
              </a:lnSpc>
              <a:buNone/>
            </a:pPr>
            <a:r>
              <a:rPr lang="en-US" sz="1300" b="1" dirty="0">
                <a:solidFill>
                  <a:srgbClr val="1E3950"/>
                </a:solidFill>
                <a:latin typeface="Arial" pitchFamily="34" charset="0"/>
                <a:ea typeface="Arial" pitchFamily="34" charset="-122"/>
                <a:cs typeface="Arial" pitchFamily="34" charset="-120"/>
              </a:rPr>
              <a:t>Определение критического пути
</a:t>
            </a:r>
            <a:r>
              <a:rPr lang="en-US" sz="600" b="1" dirty="0">
                <a:solidFill>
                  <a:srgbClr val="1E3950"/>
                </a:solidFill>
                <a:latin typeface="Arial" pitchFamily="34" charset="0"/>
                <a:ea typeface="Arial" pitchFamily="34" charset="-122"/>
                <a:cs typeface="Arial" pitchFamily="34" charset="-120"/>
              </a:rPr>
              <a:t>
</a:t>
            </a:r>
            <a:r>
              <a:rPr lang="en-US" sz="1000" dirty="0">
                <a:solidFill>
                  <a:srgbClr val="1C3355"/>
                </a:solidFill>
                <a:latin typeface="Arial" pitchFamily="34" charset="0"/>
                <a:ea typeface="Arial" pitchFamily="34" charset="-122"/>
                <a:cs typeface="Arial" pitchFamily="34" charset="-120"/>
              </a:rPr>
              <a:t>Анализ суммарной длительности маршрутов для выявления наиболее долгих и важных последовательностей.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6" name="Text 0"/>
          <p:cNvSpPr txBox="1"/>
          <p:nvPr/>
        </p:nvSpPr>
        <p:spPr>
          <a:xfrm>
            <a:off x="210244" y="28810"/>
            <a:ext cx="5418395" cy="2196840"/>
          </a:xfrm>
          <a:prstGeom prst="rect">
            <a:avLst/>
          </a:prstGeom>
          <a:noFill/>
          <a:ln/>
        </p:spPr>
        <p:txBody>
          <a:bodyPr wrap="square" lIns="0" tIns="0" rIns="0" bIns="0" rtlCol="0" anchor="ctr"/>
          <a:lstStyle/>
          <a:p>
            <a:r>
              <a:rPr lang="ru-RU" sz="2500" b="1" dirty="0">
                <a:solidFill>
                  <a:srgbClr val="1C3354"/>
                </a:solidFill>
                <a:latin typeface="Arial" pitchFamily="34" charset="0"/>
                <a:ea typeface="Arial" pitchFamily="34" charset="-122"/>
                <a:cs typeface="Arial" pitchFamily="34" charset="-120"/>
              </a:rPr>
              <a:t>Подходы к построению сетевых моделей</a:t>
            </a:r>
            <a:r>
              <a:rPr lang="en-US" sz="2500" b="1" dirty="0">
                <a:solidFill>
                  <a:srgbClr val="1C3354"/>
                </a:solidFill>
                <a:latin typeface="Arial" pitchFamily="34" charset="0"/>
                <a:ea typeface="Arial" pitchFamily="34" charset="-122"/>
                <a:cs typeface="Arial" pitchFamily="34" charset="-120"/>
              </a:rPr>
              <a:t>
</a:t>
            </a:r>
            <a:endParaRPr lang="ru-RU" sz="2400" b="1" dirty="0">
              <a:solidFill>
                <a:srgbClr val="1C3354"/>
              </a:solidFill>
              <a:latin typeface="Arial" pitchFamily="34" charset="0"/>
              <a:ea typeface="Arial" pitchFamily="34" charset="-122"/>
              <a:cs typeface="Arial" pitchFamily="34" charset="-120"/>
            </a:endParaRPr>
          </a:p>
          <a:p>
            <a:r>
              <a:rPr lang="en-US" sz="2000" dirty="0">
                <a:solidFill>
                  <a:srgbClr val="1C3354"/>
                </a:solidFill>
                <a:latin typeface="Arial" pitchFamily="34" charset="0"/>
                <a:ea typeface="Arial" pitchFamily="34" charset="-122"/>
                <a:cs typeface="Arial" pitchFamily="34" charset="-120"/>
              </a:rPr>
              <a:t>
</a:t>
            </a:r>
            <a:endParaRPr lang="en-US" sz="2500" dirty="0"/>
          </a:p>
        </p:txBody>
      </p:sp>
      <p:sp>
        <p:nvSpPr>
          <p:cNvPr id="7" name="Text 1"/>
          <p:cNvSpPr txBox="1"/>
          <p:nvPr/>
        </p:nvSpPr>
        <p:spPr>
          <a:xfrm>
            <a:off x="8495196"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E6E9EF"/>
                </a:solidFill>
                <a:latin typeface="Arial" pitchFamily="34" charset="0"/>
                <a:ea typeface="Arial" pitchFamily="34" charset="-122"/>
                <a:cs typeface="Arial" pitchFamily="34" charset="-120"/>
              </a:rPr>
              <a:t>6</a:t>
            </a:r>
            <a:endParaRPr lang="en-US" sz="1200" dirty="0"/>
          </a:p>
        </p:txBody>
      </p:sp>
      <p:pic>
        <p:nvPicPr>
          <p:cNvPr id="8" name="Рисунок 7">
            <a:extLst>
              <a:ext uri="{FF2B5EF4-FFF2-40B4-BE49-F238E27FC236}">
                <a16:creationId xmlns:a16="http://schemas.microsoft.com/office/drawing/2014/main" id="{9CCB8337-FAAD-402C-AD03-C2F3E415C2C6}"/>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00424" y="2176809"/>
            <a:ext cx="6237255" cy="2889040"/>
          </a:xfrm>
          <a:prstGeom prst="rect">
            <a:avLst/>
          </a:prstGeom>
          <a:noFill/>
          <a:ln>
            <a:noFill/>
          </a:ln>
        </p:spPr>
      </p:pic>
      <p:sp>
        <p:nvSpPr>
          <p:cNvPr id="9" name="Прямоугольник 8">
            <a:extLst>
              <a:ext uri="{FF2B5EF4-FFF2-40B4-BE49-F238E27FC236}">
                <a16:creationId xmlns:a16="http://schemas.microsoft.com/office/drawing/2014/main" id="{0982C2D6-46E4-4834-8B04-5D36A855325E}"/>
              </a:ext>
            </a:extLst>
          </p:cNvPr>
          <p:cNvSpPr/>
          <p:nvPr/>
        </p:nvSpPr>
        <p:spPr>
          <a:xfrm>
            <a:off x="210244" y="1424489"/>
            <a:ext cx="8161596" cy="923330"/>
          </a:xfrm>
          <a:prstGeom prst="rect">
            <a:avLst/>
          </a:prstGeom>
        </p:spPr>
        <p:txBody>
          <a:bodyPr wrap="square">
            <a:spAutoFit/>
          </a:bodyPr>
          <a:lstStyle/>
          <a:p>
            <a:r>
              <a:rPr lang="ru-RU" dirty="0">
                <a:solidFill>
                  <a:srgbClr val="1C3354"/>
                </a:solidFill>
                <a:latin typeface="Arial" pitchFamily="34" charset="0"/>
                <a:ea typeface="Arial" pitchFamily="34" charset="-122"/>
                <a:cs typeface="Arial" pitchFamily="34" charset="-120"/>
              </a:rPr>
              <a:t>1. </a:t>
            </a:r>
            <a:r>
              <a:rPr lang="ru-RU" b="1" dirty="0">
                <a:solidFill>
                  <a:srgbClr val="1C3354"/>
                </a:solidFill>
                <a:latin typeface="Arial" pitchFamily="34" charset="0"/>
                <a:ea typeface="Arial" pitchFamily="34" charset="-122"/>
                <a:cs typeface="Arial" pitchFamily="34" charset="-120"/>
              </a:rPr>
              <a:t>«Работа-стрелка», сетевые графики:</a:t>
            </a:r>
          </a:p>
          <a:p>
            <a:r>
              <a:rPr lang="ru-RU" dirty="0">
                <a:solidFill>
                  <a:srgbClr val="1C3354"/>
                </a:solidFill>
                <a:latin typeface="Arial" pitchFamily="34" charset="0"/>
                <a:ea typeface="Arial" pitchFamily="34" charset="-122"/>
                <a:cs typeface="Arial" pitchFamily="34" charset="-120"/>
              </a:rPr>
              <a:t>стрелками на графике изображаются работы, а вершинами – события. </a:t>
            </a:r>
            <a:r>
              <a:rPr lang="en-US" dirty="0">
                <a:solidFill>
                  <a:srgbClr val="1C3354"/>
                </a:solidFill>
                <a:latin typeface="Arial" pitchFamily="34" charset="0"/>
                <a:ea typeface="Arial" pitchFamily="34" charset="-122"/>
                <a:cs typeface="Arial" pitchFamily="34" charset="-120"/>
              </a:rPr>
              <a:t>
</a:t>
            </a:r>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0" y="0"/>
            <a:ext cx="9144000" cy="5143500"/>
          </a:xfrm>
          <a:prstGeom prst="rect">
            <a:avLst/>
          </a:prstGeom>
        </p:spPr>
      </p:pic>
      <p:sp>
        <p:nvSpPr>
          <p:cNvPr id="6" name="Text 0"/>
          <p:cNvSpPr txBox="1"/>
          <p:nvPr/>
        </p:nvSpPr>
        <p:spPr>
          <a:xfrm>
            <a:off x="210244" y="28810"/>
            <a:ext cx="5418395" cy="2196840"/>
          </a:xfrm>
          <a:prstGeom prst="rect">
            <a:avLst/>
          </a:prstGeom>
          <a:noFill/>
          <a:ln/>
        </p:spPr>
        <p:txBody>
          <a:bodyPr wrap="square" lIns="0" tIns="0" rIns="0" bIns="0" rtlCol="0" anchor="ctr"/>
          <a:lstStyle/>
          <a:p>
            <a:r>
              <a:rPr lang="ru-RU" sz="2500" b="1" dirty="0">
                <a:solidFill>
                  <a:srgbClr val="1C3354"/>
                </a:solidFill>
                <a:latin typeface="Arial" pitchFamily="34" charset="0"/>
                <a:ea typeface="Arial" pitchFamily="34" charset="-122"/>
                <a:cs typeface="Arial" pitchFamily="34" charset="-120"/>
              </a:rPr>
              <a:t>Подходы к построению сетевых моделей</a:t>
            </a:r>
            <a:r>
              <a:rPr lang="en-US" sz="2500" b="1" dirty="0">
                <a:solidFill>
                  <a:srgbClr val="1C3354"/>
                </a:solidFill>
                <a:latin typeface="Arial" pitchFamily="34" charset="0"/>
                <a:ea typeface="Arial" pitchFamily="34" charset="-122"/>
                <a:cs typeface="Arial" pitchFamily="34" charset="-120"/>
              </a:rPr>
              <a:t>
</a:t>
            </a:r>
            <a:endParaRPr lang="ru-RU" sz="2400" b="1" dirty="0">
              <a:solidFill>
                <a:srgbClr val="1C3354"/>
              </a:solidFill>
              <a:latin typeface="Arial" pitchFamily="34" charset="0"/>
              <a:ea typeface="Arial" pitchFamily="34" charset="-122"/>
              <a:cs typeface="Arial" pitchFamily="34" charset="-120"/>
            </a:endParaRPr>
          </a:p>
          <a:p>
            <a:r>
              <a:rPr lang="en-US" sz="2000" dirty="0">
                <a:solidFill>
                  <a:srgbClr val="1C3354"/>
                </a:solidFill>
                <a:latin typeface="Arial" pitchFamily="34" charset="0"/>
                <a:ea typeface="Arial" pitchFamily="34" charset="-122"/>
                <a:cs typeface="Arial" pitchFamily="34" charset="-120"/>
              </a:rPr>
              <a:t>
</a:t>
            </a:r>
            <a:endParaRPr lang="en-US" sz="2500" dirty="0"/>
          </a:p>
        </p:txBody>
      </p:sp>
      <p:sp>
        <p:nvSpPr>
          <p:cNvPr id="7" name="Text 1"/>
          <p:cNvSpPr txBox="1"/>
          <p:nvPr/>
        </p:nvSpPr>
        <p:spPr>
          <a:xfrm>
            <a:off x="8495196"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E6E9EF"/>
                </a:solidFill>
                <a:latin typeface="Arial" pitchFamily="34" charset="0"/>
                <a:ea typeface="Arial" pitchFamily="34" charset="-122"/>
                <a:cs typeface="Arial" pitchFamily="34" charset="-120"/>
              </a:rPr>
              <a:t>7</a:t>
            </a:r>
            <a:endParaRPr lang="en-US" sz="1200" dirty="0"/>
          </a:p>
        </p:txBody>
      </p:sp>
      <p:sp>
        <p:nvSpPr>
          <p:cNvPr id="9" name="Прямоугольник 8">
            <a:extLst>
              <a:ext uri="{FF2B5EF4-FFF2-40B4-BE49-F238E27FC236}">
                <a16:creationId xmlns:a16="http://schemas.microsoft.com/office/drawing/2014/main" id="{0982C2D6-46E4-4834-8B04-5D36A855325E}"/>
              </a:ext>
            </a:extLst>
          </p:cNvPr>
          <p:cNvSpPr/>
          <p:nvPr/>
        </p:nvSpPr>
        <p:spPr>
          <a:xfrm>
            <a:off x="210244" y="1424489"/>
            <a:ext cx="8161596" cy="923330"/>
          </a:xfrm>
          <a:prstGeom prst="rect">
            <a:avLst/>
          </a:prstGeom>
        </p:spPr>
        <p:txBody>
          <a:bodyPr wrap="square">
            <a:spAutoFit/>
          </a:bodyPr>
          <a:lstStyle/>
          <a:p>
            <a:r>
              <a:rPr lang="ru-RU" dirty="0">
                <a:solidFill>
                  <a:srgbClr val="1C3354"/>
                </a:solidFill>
                <a:latin typeface="Arial" pitchFamily="34" charset="0"/>
                <a:ea typeface="Arial" pitchFamily="34" charset="-122"/>
                <a:cs typeface="Arial" pitchFamily="34" charset="-120"/>
              </a:rPr>
              <a:t>2. </a:t>
            </a:r>
            <a:r>
              <a:rPr lang="ru-RU" b="1" dirty="0">
                <a:solidFill>
                  <a:srgbClr val="1C3354"/>
                </a:solidFill>
                <a:latin typeface="Arial" pitchFamily="34" charset="0"/>
                <a:ea typeface="Arial" pitchFamily="34" charset="-122"/>
                <a:cs typeface="Arial" pitchFamily="34" charset="-120"/>
              </a:rPr>
              <a:t>«Работа-вершина», сети предшествования:</a:t>
            </a:r>
          </a:p>
          <a:p>
            <a:r>
              <a:rPr lang="ru-RU" dirty="0">
                <a:solidFill>
                  <a:srgbClr val="1C3354"/>
                </a:solidFill>
                <a:latin typeface="Arial" pitchFamily="34" charset="0"/>
                <a:ea typeface="Arial" pitchFamily="34" charset="-122"/>
                <a:cs typeface="Arial" pitchFamily="34" charset="-120"/>
              </a:rPr>
              <a:t>стрелками на графике изображаются события, а вершинами – работы. </a:t>
            </a:r>
            <a:r>
              <a:rPr lang="en-US" dirty="0">
                <a:solidFill>
                  <a:srgbClr val="1C3354"/>
                </a:solidFill>
                <a:latin typeface="Arial" pitchFamily="34" charset="0"/>
                <a:ea typeface="Arial" pitchFamily="34" charset="-122"/>
                <a:cs typeface="Arial" pitchFamily="34" charset="-120"/>
              </a:rPr>
              <a:t>
</a:t>
            </a:r>
            <a:endParaRPr lang="ru-RU" dirty="0"/>
          </a:p>
        </p:txBody>
      </p:sp>
      <p:pic>
        <p:nvPicPr>
          <p:cNvPr id="10" name="Рисунок 9">
            <a:extLst>
              <a:ext uri="{FF2B5EF4-FFF2-40B4-BE49-F238E27FC236}">
                <a16:creationId xmlns:a16="http://schemas.microsoft.com/office/drawing/2014/main" id="{B23DCF58-E358-40BE-B0EF-CEB17FD2BA18}"/>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957968" y="2141194"/>
            <a:ext cx="6579260" cy="3002306"/>
          </a:xfrm>
          <a:prstGeom prst="rect">
            <a:avLst/>
          </a:prstGeom>
          <a:noFill/>
          <a:ln>
            <a:noFill/>
          </a:ln>
        </p:spPr>
      </p:pic>
    </p:spTree>
    <p:extLst>
      <p:ext uri="{BB962C8B-B14F-4D97-AF65-F5344CB8AC3E}">
        <p14:creationId xmlns:p14="http://schemas.microsoft.com/office/powerpoint/2010/main" val="423572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8</a:t>
            </a:r>
            <a:endParaRPr lang="en-US" sz="1200" dirty="0"/>
          </a:p>
        </p:txBody>
      </p:sp>
      <p:sp>
        <p:nvSpPr>
          <p:cNvPr id="6" name="Text 2"/>
          <p:cNvSpPr txBox="1"/>
          <p:nvPr/>
        </p:nvSpPr>
        <p:spPr>
          <a:xfrm>
            <a:off x="652174" y="1056640"/>
            <a:ext cx="8288625" cy="3809560"/>
          </a:xfrm>
          <a:prstGeom prst="rect">
            <a:avLst/>
          </a:prstGeom>
          <a:noFill/>
          <a:ln/>
        </p:spPr>
        <p:txBody>
          <a:bodyPr wrap="square" lIns="0" tIns="0" rIns="0" bIns="0" rtlCol="0" anchor="ctr"/>
          <a:lstStyle/>
          <a:p>
            <a:r>
              <a:rPr lang="ru-RU" sz="2000" dirty="0">
                <a:solidFill>
                  <a:srgbClr val="1C3354"/>
                </a:solidFill>
                <a:latin typeface="Arial" pitchFamily="34" charset="0"/>
                <a:ea typeface="Arial" pitchFamily="34" charset="-122"/>
                <a:cs typeface="Arial" pitchFamily="34" charset="-120"/>
              </a:rPr>
              <a:t>Для построения </a:t>
            </a:r>
            <a:r>
              <a:rPr lang="ru-RU" sz="2000" b="1" dirty="0">
                <a:solidFill>
                  <a:srgbClr val="1C3354"/>
                </a:solidFill>
                <a:latin typeface="Arial" pitchFamily="34" charset="0"/>
                <a:ea typeface="Arial" pitchFamily="34" charset="-122"/>
                <a:cs typeface="Arial" pitchFamily="34" charset="-120"/>
              </a:rPr>
              <a:t>сетевых моделей </a:t>
            </a:r>
            <a:r>
              <a:rPr lang="ru-RU" sz="2000" dirty="0">
                <a:solidFill>
                  <a:srgbClr val="1C3354"/>
                </a:solidFill>
                <a:latin typeface="Arial" pitchFamily="34" charset="0"/>
                <a:ea typeface="Arial" pitchFamily="34" charset="-122"/>
                <a:cs typeface="Arial" pitchFamily="34" charset="-120"/>
              </a:rPr>
              <a:t>необходимо определить </a:t>
            </a:r>
            <a:r>
              <a:rPr lang="ru-RU" sz="2000" b="1" dirty="0">
                <a:solidFill>
                  <a:srgbClr val="1C3354"/>
                </a:solidFill>
                <a:latin typeface="Arial" pitchFamily="34" charset="0"/>
                <a:ea typeface="Arial" pitchFamily="34" charset="-122"/>
                <a:cs typeface="Arial" pitchFamily="34" charset="-120"/>
              </a:rPr>
              <a:t>логические</a:t>
            </a:r>
            <a:r>
              <a:rPr lang="ru-RU" sz="2000" dirty="0">
                <a:solidFill>
                  <a:srgbClr val="1C3354"/>
                </a:solidFill>
                <a:latin typeface="Arial" pitchFamily="34" charset="0"/>
                <a:ea typeface="Arial" pitchFamily="34" charset="-122"/>
                <a:cs typeface="Arial" pitchFamily="34" charset="-120"/>
              </a:rPr>
              <a:t> </a:t>
            </a:r>
            <a:r>
              <a:rPr lang="ru-RU" sz="2000" b="1" dirty="0">
                <a:solidFill>
                  <a:srgbClr val="1C3354"/>
                </a:solidFill>
                <a:latin typeface="Arial" pitchFamily="34" charset="0"/>
                <a:ea typeface="Arial" pitchFamily="34" charset="-122"/>
                <a:cs typeface="Arial" pitchFamily="34" charset="-120"/>
              </a:rPr>
              <a:t>взаимосвязи</a:t>
            </a:r>
            <a:r>
              <a:rPr lang="ru-RU" sz="2000" dirty="0">
                <a:solidFill>
                  <a:srgbClr val="1C3354"/>
                </a:solidFill>
                <a:latin typeface="Arial" pitchFamily="34" charset="0"/>
                <a:ea typeface="Arial" pitchFamily="34" charset="-122"/>
                <a:cs typeface="Arial" pitchFamily="34" charset="-120"/>
              </a:rPr>
              <a:t> между работами. </a:t>
            </a:r>
          </a:p>
          <a:p>
            <a:endParaRPr lang="ru-RU" sz="2000" dirty="0">
              <a:solidFill>
                <a:srgbClr val="1C3354"/>
              </a:solidFill>
              <a:latin typeface="Arial" pitchFamily="34" charset="0"/>
              <a:ea typeface="Arial" pitchFamily="34" charset="-122"/>
              <a:cs typeface="Arial" pitchFamily="34" charset="-120"/>
            </a:endParaRPr>
          </a:p>
          <a:p>
            <a:r>
              <a:rPr lang="ru-RU" sz="2000" b="1" dirty="0">
                <a:solidFill>
                  <a:srgbClr val="1C3354"/>
                </a:solidFill>
                <a:latin typeface="Arial" pitchFamily="34" charset="0"/>
                <a:ea typeface="Arial" pitchFamily="34" charset="-122"/>
                <a:cs typeface="Arial" pitchFamily="34" charset="-120"/>
              </a:rPr>
              <a:t>Причиной взаимосвязей </a:t>
            </a:r>
            <a:r>
              <a:rPr lang="ru-RU" sz="2000" dirty="0">
                <a:solidFill>
                  <a:srgbClr val="1C3354"/>
                </a:solidFill>
                <a:latin typeface="Arial" pitchFamily="34" charset="0"/>
                <a:ea typeface="Arial" pitchFamily="34" charset="-122"/>
                <a:cs typeface="Arial" pitchFamily="34" charset="-120"/>
              </a:rPr>
              <a:t>являются, как правило, </a:t>
            </a:r>
            <a:r>
              <a:rPr lang="ru-RU" sz="2000" b="1" dirty="0">
                <a:solidFill>
                  <a:srgbClr val="1C3354"/>
                </a:solidFill>
                <a:latin typeface="Arial" pitchFamily="34" charset="0"/>
                <a:ea typeface="Arial" pitchFamily="34" charset="-122"/>
                <a:cs typeface="Arial" pitchFamily="34" charset="-120"/>
              </a:rPr>
              <a:t>технологические</a:t>
            </a:r>
            <a:r>
              <a:rPr lang="ru-RU" sz="2000" dirty="0">
                <a:solidFill>
                  <a:srgbClr val="1C3354"/>
                </a:solidFill>
                <a:latin typeface="Arial" pitchFamily="34" charset="0"/>
                <a:ea typeface="Arial" pitchFamily="34" charset="-122"/>
                <a:cs typeface="Arial" pitchFamily="34" charset="-120"/>
              </a:rPr>
              <a:t> </a:t>
            </a:r>
            <a:r>
              <a:rPr lang="ru-RU" sz="2000" b="1" dirty="0">
                <a:solidFill>
                  <a:srgbClr val="1C3354"/>
                </a:solidFill>
                <a:latin typeface="Arial" pitchFamily="34" charset="0"/>
                <a:ea typeface="Arial" pitchFamily="34" charset="-122"/>
                <a:cs typeface="Arial" pitchFamily="34" charset="-120"/>
              </a:rPr>
              <a:t>ограничения</a:t>
            </a:r>
            <a:r>
              <a:rPr lang="ru-RU" sz="2000" dirty="0">
                <a:solidFill>
                  <a:srgbClr val="1C3354"/>
                </a:solidFill>
                <a:latin typeface="Arial" pitchFamily="34" charset="0"/>
                <a:ea typeface="Arial" pitchFamily="34" charset="-122"/>
                <a:cs typeface="Arial" pitchFamily="34" charset="-120"/>
              </a:rPr>
              <a:t> (начало одних работ зависит от завершения других). </a:t>
            </a:r>
          </a:p>
          <a:p>
            <a:endParaRPr lang="ru-RU" sz="2000" dirty="0">
              <a:solidFill>
                <a:srgbClr val="1C3354"/>
              </a:solidFill>
              <a:latin typeface="Arial" pitchFamily="34" charset="0"/>
              <a:ea typeface="Arial" pitchFamily="34" charset="-122"/>
              <a:cs typeface="Arial" pitchFamily="34" charset="-120"/>
            </a:endParaRPr>
          </a:p>
          <a:p>
            <a:r>
              <a:rPr lang="ru-RU" sz="2000" b="1" dirty="0">
                <a:solidFill>
                  <a:srgbClr val="1C3354"/>
                </a:solidFill>
                <a:latin typeface="Arial" pitchFamily="34" charset="0"/>
                <a:ea typeface="Arial" pitchFamily="34" charset="-122"/>
                <a:cs typeface="Arial" pitchFamily="34" charset="-120"/>
              </a:rPr>
              <a:t>Комплекс</a:t>
            </a:r>
            <a:r>
              <a:rPr lang="ru-RU" sz="2000" dirty="0">
                <a:solidFill>
                  <a:srgbClr val="1C3354"/>
                </a:solidFill>
                <a:latin typeface="Arial" pitchFamily="34" charset="0"/>
                <a:ea typeface="Arial" pitchFamily="34" charset="-122"/>
                <a:cs typeface="Arial" pitchFamily="34" charset="-120"/>
              </a:rPr>
              <a:t> </a:t>
            </a:r>
            <a:r>
              <a:rPr lang="ru-RU" sz="2000" b="1" dirty="0">
                <a:solidFill>
                  <a:srgbClr val="1C3354"/>
                </a:solidFill>
                <a:latin typeface="Arial" pitchFamily="34" charset="0"/>
                <a:ea typeface="Arial" pitchFamily="34" charset="-122"/>
                <a:cs typeface="Arial" pitchFamily="34" charset="-120"/>
              </a:rPr>
              <a:t>взаимосвязей</a:t>
            </a:r>
            <a:r>
              <a:rPr lang="ru-RU" sz="2000" dirty="0">
                <a:solidFill>
                  <a:srgbClr val="1C3354"/>
                </a:solidFill>
                <a:latin typeface="Arial" pitchFamily="34" charset="0"/>
                <a:ea typeface="Arial" pitchFamily="34" charset="-122"/>
                <a:cs typeface="Arial" pitchFamily="34" charset="-120"/>
              </a:rPr>
              <a:t> между работами определяет </a:t>
            </a:r>
            <a:r>
              <a:rPr lang="ru-RU" sz="2000" b="1" dirty="0">
                <a:solidFill>
                  <a:srgbClr val="1C3354"/>
                </a:solidFill>
                <a:latin typeface="Arial" pitchFamily="34" charset="0"/>
                <a:ea typeface="Arial" pitchFamily="34" charset="-122"/>
                <a:cs typeface="Arial" pitchFamily="34" charset="-120"/>
              </a:rPr>
              <a:t>последовательность</a:t>
            </a:r>
            <a:r>
              <a:rPr lang="ru-RU" sz="2000" dirty="0">
                <a:solidFill>
                  <a:srgbClr val="1C3354"/>
                </a:solidFill>
                <a:latin typeface="Arial" pitchFamily="34" charset="0"/>
                <a:ea typeface="Arial" pitchFamily="34" charset="-122"/>
                <a:cs typeface="Arial" pitchFamily="34" charset="-120"/>
              </a:rPr>
              <a:t> выполнения работ во времени.</a:t>
            </a:r>
          </a:p>
          <a:p>
            <a:endParaRPr lang="ru-RU" sz="2000" dirty="0">
              <a:solidFill>
                <a:srgbClr val="1C3354"/>
              </a:solidFill>
              <a:latin typeface="Arial" pitchFamily="34" charset="0"/>
              <a:ea typeface="Arial" pitchFamily="34" charset="-122"/>
              <a:cs typeface="Arial" pitchFamily="34" charset="-120"/>
            </a:endParaRPr>
          </a:p>
          <a:p>
            <a:r>
              <a:rPr lang="ru-RU" sz="2000" dirty="0">
                <a:solidFill>
                  <a:srgbClr val="1C3354"/>
                </a:solidFill>
                <a:latin typeface="Arial" pitchFamily="34" charset="0"/>
                <a:ea typeface="Arial" pitchFamily="34" charset="-122"/>
                <a:cs typeface="Arial" pitchFamily="34" charset="-120"/>
              </a:rPr>
              <a:t>Для определения последовательности действий необходима следующая информация: перечень работ, описание продукта, технологические, взаимосвязи, ограничения и предположения.</a:t>
            </a:r>
          </a:p>
          <a:p>
            <a:pPr marL="0" indent="0" algn="l">
              <a:lnSpc>
                <a:spcPct val="100000"/>
              </a:lnSpc>
              <a:buNone/>
            </a:pPr>
            <a:r>
              <a:rPr lang="en-US" sz="2000" b="1" dirty="0">
                <a:solidFill>
                  <a:srgbClr val="1C3354"/>
                </a:solidFill>
                <a:latin typeface="Arial" pitchFamily="34" charset="0"/>
                <a:ea typeface="Arial" pitchFamily="34" charset="-122"/>
                <a:cs typeface="Arial" pitchFamily="34" charset="-120"/>
              </a:rPr>
              <a:t>
</a:t>
            </a:r>
            <a:r>
              <a:rPr lang="en-US" sz="1400" dirty="0">
                <a:solidFill>
                  <a:srgbClr val="1C3354"/>
                </a:solidFill>
                <a:latin typeface="Arial" pitchFamily="34" charset="0"/>
                <a:ea typeface="Arial" pitchFamily="34" charset="-122"/>
                <a:cs typeface="Arial" pitchFamily="34" charset="-120"/>
              </a:rPr>
              <a:t>
</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9</a:t>
            </a:r>
            <a:endParaRPr lang="en-US" sz="1200" dirty="0"/>
          </a:p>
        </p:txBody>
      </p:sp>
      <p:pic>
        <p:nvPicPr>
          <p:cNvPr id="5" name="Содержимое 3">
            <a:extLst>
              <a:ext uri="{FF2B5EF4-FFF2-40B4-BE49-F238E27FC236}">
                <a16:creationId xmlns:a16="http://schemas.microsoft.com/office/drawing/2014/main" id="{3C58E674-65EE-4A5D-B5FB-7AEA5A88AFF7}"/>
              </a:ext>
            </a:extLst>
          </p:cNvPr>
          <p:cNvPicPr>
            <a:picLocks/>
          </p:cNvPicPr>
          <p:nvPr/>
        </p:nvPicPr>
        <p:blipFill>
          <a:blip r:embed="rId4">
            <a:extLst>
              <a:ext uri="{28A0092B-C50C-407E-A947-70E740481C1C}">
                <a14:useLocalDpi xmlns:a14="http://schemas.microsoft.com/office/drawing/2010/main" val="0"/>
              </a:ext>
            </a:extLst>
          </a:blip>
          <a:srcRect/>
          <a:stretch>
            <a:fillRect/>
          </a:stretch>
        </p:blipFill>
        <p:spPr bwMode="auto">
          <a:xfrm>
            <a:off x="2294554" y="142852"/>
            <a:ext cx="4004646" cy="4723348"/>
          </a:xfrm>
          <a:prstGeom prst="rect">
            <a:avLst/>
          </a:prstGeom>
          <a:noFill/>
          <a:ln>
            <a:noFill/>
          </a:ln>
        </p:spPr>
      </p:pic>
    </p:spTree>
    <p:extLst>
      <p:ext uri="{BB962C8B-B14F-4D97-AF65-F5344CB8AC3E}">
        <p14:creationId xmlns:p14="http://schemas.microsoft.com/office/powerpoint/2010/main" val="4017239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10</a:t>
            </a:r>
            <a:endParaRPr lang="en-US" sz="1200" dirty="0"/>
          </a:p>
        </p:txBody>
      </p:sp>
      <p:sp>
        <p:nvSpPr>
          <p:cNvPr id="6" name="Text 2"/>
          <p:cNvSpPr txBox="1"/>
          <p:nvPr/>
        </p:nvSpPr>
        <p:spPr>
          <a:xfrm>
            <a:off x="294199" y="815535"/>
            <a:ext cx="5207369" cy="4175760"/>
          </a:xfrm>
          <a:prstGeom prst="rect">
            <a:avLst/>
          </a:prstGeom>
          <a:noFill/>
          <a:ln/>
        </p:spPr>
        <p:txBody>
          <a:bodyPr wrap="square" lIns="0" tIns="0" rIns="0" bIns="0" rtlCol="0" anchor="ctr"/>
          <a:lstStyle/>
          <a:p>
            <a:pPr algn="just"/>
            <a:r>
              <a:rPr lang="ru-RU" sz="1400" b="1" dirty="0">
                <a:solidFill>
                  <a:srgbClr val="333E49"/>
                </a:solidFill>
                <a:latin typeface="Roboto" panose="02000000000000000000" pitchFamily="2" charset="0"/>
              </a:rPr>
              <a:t>Диаграмма </a:t>
            </a:r>
            <a:r>
              <a:rPr lang="ru-RU" sz="1400" b="1" dirty="0" err="1">
                <a:solidFill>
                  <a:srgbClr val="333E49"/>
                </a:solidFill>
                <a:latin typeface="Roboto" panose="02000000000000000000" pitchFamily="2" charset="0"/>
              </a:rPr>
              <a:t>Ганта</a:t>
            </a:r>
            <a:r>
              <a:rPr lang="ru-RU" sz="1400" b="1" dirty="0">
                <a:solidFill>
                  <a:srgbClr val="333E49"/>
                </a:solidFill>
                <a:latin typeface="Roboto" panose="02000000000000000000" pitchFamily="2" charset="0"/>
              </a:rPr>
              <a:t> </a:t>
            </a:r>
            <a:r>
              <a:rPr lang="ru-RU" sz="1400" dirty="0">
                <a:solidFill>
                  <a:srgbClr val="333E49"/>
                </a:solidFill>
                <a:latin typeface="Roboto" panose="02000000000000000000" pitchFamily="2" charset="0"/>
              </a:rPr>
              <a:t>— это инструмент для планирования и управления проектами. Это график, на горизонтальной оси которого отмечают действия, на вертикальной оси — продолжительность их выполнения. </a:t>
            </a:r>
          </a:p>
          <a:p>
            <a:pPr algn="just"/>
            <a:endParaRPr lang="ru-RU" sz="1400" dirty="0">
              <a:solidFill>
                <a:srgbClr val="333E49"/>
              </a:solidFill>
              <a:latin typeface="Roboto" panose="02000000000000000000" pitchFamily="2" charset="0"/>
            </a:endParaRPr>
          </a:p>
          <a:p>
            <a:pPr algn="just"/>
            <a:r>
              <a:rPr lang="ru-RU" sz="1400" dirty="0">
                <a:solidFill>
                  <a:srgbClr val="333E49"/>
                </a:solidFill>
                <a:latin typeface="Roboto" panose="02000000000000000000" pitchFamily="2" charset="0"/>
              </a:rPr>
              <a:t>Если объяснять проще: слева задачи, справа — их длительность. Чаще всего такой инструмент используют, чтобы визуализировать процесс работы над проектом и контролировать ход выполнения всех мероприятий по проекту.</a:t>
            </a:r>
          </a:p>
          <a:p>
            <a:pPr algn="just"/>
            <a:endParaRPr lang="ru-RU" sz="1400" dirty="0">
              <a:solidFill>
                <a:srgbClr val="333E49"/>
              </a:solidFill>
              <a:latin typeface="Roboto" panose="02000000000000000000" pitchFamily="2" charset="0"/>
            </a:endParaRPr>
          </a:p>
          <a:p>
            <a:pPr algn="just"/>
            <a:r>
              <a:rPr lang="ru-RU" sz="1400" dirty="0">
                <a:solidFill>
                  <a:srgbClr val="333E49"/>
                </a:solidFill>
                <a:latin typeface="Roboto" panose="02000000000000000000" pitchFamily="2" charset="0"/>
              </a:rPr>
              <a:t>Создателем этого инструмента является Генри </a:t>
            </a:r>
            <a:r>
              <a:rPr lang="ru-RU" sz="1400" dirty="0" err="1">
                <a:solidFill>
                  <a:srgbClr val="333E49"/>
                </a:solidFill>
                <a:latin typeface="Roboto" panose="02000000000000000000" pitchFamily="2" charset="0"/>
              </a:rPr>
              <a:t>Гант</a:t>
            </a:r>
            <a:r>
              <a:rPr lang="ru-RU" sz="1400" dirty="0">
                <a:solidFill>
                  <a:srgbClr val="333E49"/>
                </a:solidFill>
                <a:latin typeface="Roboto" panose="02000000000000000000" pitchFamily="2" charset="0"/>
              </a:rPr>
              <a:t> — специалист в сфере менеджмента. В 1910 году он решил построить диаграмму, чтобы организовать работу на производстве. В дальнейшем инструмент назвали в его честь. </a:t>
            </a:r>
          </a:p>
          <a:p>
            <a:pPr marL="0" indent="0" algn="l">
              <a:lnSpc>
                <a:spcPct val="100000"/>
              </a:lnSpc>
              <a:buNone/>
            </a:pPr>
            <a:r>
              <a:rPr lang="en-US" sz="1600" b="1" dirty="0">
                <a:solidFill>
                  <a:srgbClr val="1C3354"/>
                </a:solidFill>
                <a:latin typeface="Arial" pitchFamily="34" charset="0"/>
                <a:ea typeface="Arial" pitchFamily="34" charset="-122"/>
                <a:cs typeface="Arial" pitchFamily="34" charset="-120"/>
              </a:rPr>
              <a:t>
</a:t>
            </a:r>
            <a:r>
              <a:rPr lang="en-US" sz="1100" dirty="0">
                <a:solidFill>
                  <a:srgbClr val="1C3354"/>
                </a:solidFill>
                <a:latin typeface="Arial" pitchFamily="34" charset="0"/>
                <a:ea typeface="Arial" pitchFamily="34" charset="-122"/>
                <a:cs typeface="Arial" pitchFamily="34" charset="-120"/>
              </a:rPr>
              <a:t>
</a:t>
            </a:r>
            <a:endParaRPr lang="en-US" sz="1600" dirty="0"/>
          </a:p>
        </p:txBody>
      </p:sp>
      <p:pic>
        <p:nvPicPr>
          <p:cNvPr id="5" name="Picture 2">
            <a:extLst>
              <a:ext uri="{FF2B5EF4-FFF2-40B4-BE49-F238E27FC236}">
                <a16:creationId xmlns:a16="http://schemas.microsoft.com/office/drawing/2014/main" id="{5CA93D1A-0941-4467-AFF1-5CA49A86DAA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88" t="6480" b="12285"/>
          <a:stretch/>
        </p:blipFill>
        <p:spPr bwMode="auto">
          <a:xfrm>
            <a:off x="5795767" y="1582616"/>
            <a:ext cx="3348233" cy="1805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3115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577225" y="1025854"/>
            <a:ext cx="376800" cy="376800"/>
          </a:xfrm>
          <a:prstGeom prst="rect">
            <a:avLst/>
          </a:prstGeom>
        </p:spPr>
      </p:pic>
      <p:pic>
        <p:nvPicPr>
          <p:cNvPr id="5" name="Image 3" descr="preencoded.png"/>
          <p:cNvPicPr>
            <a:picLocks noChangeAspect="1"/>
          </p:cNvPicPr>
          <p:nvPr/>
        </p:nvPicPr>
        <p:blipFill>
          <a:blip r:embed="rId5"/>
          <a:stretch>
            <a:fillRect/>
          </a:stretch>
        </p:blipFill>
        <p:spPr>
          <a:xfrm>
            <a:off x="495400" y="3590175"/>
            <a:ext cx="376800" cy="301440"/>
          </a:xfrm>
          <a:prstGeom prst="rect">
            <a:avLst/>
          </a:prstGeom>
        </p:spPr>
      </p:pic>
      <p:pic>
        <p:nvPicPr>
          <p:cNvPr id="6" name="Image 4" descr="preencoded.png"/>
          <p:cNvPicPr>
            <a:picLocks noChangeAspect="1"/>
          </p:cNvPicPr>
          <p:nvPr/>
        </p:nvPicPr>
        <p:blipFill>
          <a:blip r:embed="rId6"/>
          <a:stretch>
            <a:fillRect/>
          </a:stretch>
        </p:blipFill>
        <p:spPr>
          <a:xfrm>
            <a:off x="4800800" y="3552494"/>
            <a:ext cx="376800" cy="376800"/>
          </a:xfrm>
          <a:prstGeom prst="rect">
            <a:avLst/>
          </a:prstGeom>
        </p:spPr>
      </p:pic>
      <p:sp>
        <p:nvSpPr>
          <p:cNvPr id="7" name="Text 0"/>
          <p:cNvSpPr txBox="1"/>
          <p:nvPr/>
        </p:nvSpPr>
        <p:spPr>
          <a:xfrm>
            <a:off x="723750" y="510900"/>
            <a:ext cx="7696500" cy="384900"/>
          </a:xfrm>
          <a:prstGeom prst="rect">
            <a:avLst/>
          </a:prstGeom>
          <a:noFill/>
          <a:ln/>
        </p:spPr>
        <p:txBody>
          <a:bodyPr wrap="square" lIns="0" tIns="0" rIns="0" bIns="0" rtlCol="0" anchor="ctr"/>
          <a:lstStyle/>
          <a:p>
            <a:pPr marL="0" indent="0" algn="ctr">
              <a:lnSpc>
                <a:spcPct val="120000"/>
              </a:lnSpc>
              <a:buNone/>
            </a:pPr>
            <a:r>
              <a:rPr lang="en-US" sz="2500" b="1" dirty="0">
                <a:solidFill>
                  <a:srgbClr val="1C3354"/>
                </a:solidFill>
                <a:latin typeface="Arial" pitchFamily="34" charset="0"/>
                <a:ea typeface="Arial" pitchFamily="34" charset="-122"/>
                <a:cs typeface="Arial" pitchFamily="34" charset="-120"/>
              </a:rPr>
              <a:t>Основные элементы диаграммы Ганта
</a:t>
            </a:r>
            <a:endParaRPr lang="en-US" sz="2500" dirty="0"/>
          </a:p>
        </p:txBody>
      </p:sp>
      <p:sp>
        <p:nvSpPr>
          <p:cNvPr id="8" name="Text 1"/>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11</a:t>
            </a:r>
            <a:endParaRPr lang="en-US" sz="1200" dirty="0"/>
          </a:p>
        </p:txBody>
      </p:sp>
      <p:sp>
        <p:nvSpPr>
          <p:cNvPr id="9" name="Text 2"/>
          <p:cNvSpPr txBox="1"/>
          <p:nvPr/>
        </p:nvSpPr>
        <p:spPr>
          <a:xfrm>
            <a:off x="1139900" y="1021800"/>
            <a:ext cx="3279900" cy="384900"/>
          </a:xfrm>
          <a:prstGeom prst="rect">
            <a:avLst/>
          </a:prstGeom>
          <a:noFill/>
          <a:ln/>
        </p:spPr>
        <p:txBody>
          <a:bodyPr wrap="square" lIns="0" tIns="0" rIns="0" bIns="0" rtlCol="0" anchor="ctr"/>
          <a:lstStyle/>
          <a:p>
            <a:pPr marL="0" indent="0" algn="l">
              <a:lnSpc>
                <a:spcPct val="90000"/>
              </a:lnSpc>
              <a:buNone/>
            </a:pPr>
            <a:r>
              <a:rPr lang="en-US" sz="1600" dirty="0">
                <a:solidFill>
                  <a:srgbClr val="D26A71"/>
                </a:solidFill>
                <a:latin typeface="Arial" pitchFamily="34" charset="0"/>
                <a:ea typeface="Arial" pitchFamily="34" charset="-122"/>
                <a:cs typeface="Arial" pitchFamily="34" charset="-120"/>
              </a:rPr>
              <a:t>Задачи проекта
</a:t>
            </a:r>
            <a:endParaRPr lang="en-US" sz="1600" dirty="0"/>
          </a:p>
        </p:txBody>
      </p:sp>
      <p:sp>
        <p:nvSpPr>
          <p:cNvPr id="10" name="Text 3"/>
          <p:cNvSpPr txBox="1"/>
          <p:nvPr/>
        </p:nvSpPr>
        <p:spPr>
          <a:xfrm>
            <a:off x="592006" y="1511261"/>
            <a:ext cx="3837300" cy="771300"/>
          </a:xfrm>
          <a:prstGeom prst="rect">
            <a:avLst/>
          </a:prstGeom>
          <a:noFill/>
          <a:ln/>
        </p:spPr>
        <p:txBody>
          <a:bodyPr wrap="square" lIns="0" tIns="0" rIns="0" bIns="0" rtlCol="0" anchor="t"/>
          <a:lstStyle/>
          <a:p>
            <a:pPr marL="0" indent="0" algn="l">
              <a:lnSpc>
                <a:spcPct val="110046"/>
              </a:lnSpc>
              <a:buNone/>
            </a:pPr>
            <a:r>
              <a:rPr lang="en-US" sz="1200" dirty="0">
                <a:solidFill>
                  <a:srgbClr val="1C3354"/>
                </a:solidFill>
                <a:latin typeface="Arial" pitchFamily="34" charset="0"/>
                <a:ea typeface="Arial" pitchFamily="34" charset="-122"/>
                <a:cs typeface="Arial" pitchFamily="34" charset="-120"/>
              </a:rPr>
              <a:t>Каждая задача отображается в виде полосы, отражающей срок её выполнения на временной </a:t>
            </a:r>
            <a:r>
              <a:rPr lang="en-US" sz="1200" dirty="0" err="1">
                <a:solidFill>
                  <a:srgbClr val="1C3354"/>
                </a:solidFill>
                <a:latin typeface="Arial" pitchFamily="34" charset="0"/>
                <a:ea typeface="Arial" pitchFamily="34" charset="-122"/>
                <a:cs typeface="Arial" pitchFamily="34" charset="-120"/>
              </a:rPr>
              <a:t>шкале</a:t>
            </a:r>
            <a:r>
              <a:rPr lang="en-US" sz="1200" dirty="0">
                <a:solidFill>
                  <a:srgbClr val="1C3354"/>
                </a:solidFill>
                <a:latin typeface="Arial" pitchFamily="34" charset="0"/>
                <a:ea typeface="Arial" pitchFamily="34" charset="-122"/>
                <a:cs typeface="Arial" pitchFamily="34" charset="-120"/>
              </a:rPr>
              <a:t>.</a:t>
            </a:r>
            <a:r>
              <a:rPr lang="ru-RU" sz="1200" dirty="0">
                <a:solidFill>
                  <a:srgbClr val="1C3354"/>
                </a:solidFill>
                <a:latin typeface="Arial" pitchFamily="34" charset="0"/>
                <a:ea typeface="Arial" pitchFamily="34" charset="-122"/>
                <a:cs typeface="Arial" pitchFamily="34" charset="-120"/>
              </a:rPr>
              <a:t>В левой части указывается список мероприятий или задач.</a:t>
            </a:r>
            <a:r>
              <a:rPr lang="en-US" sz="1200" dirty="0">
                <a:solidFill>
                  <a:srgbClr val="1C3354"/>
                </a:solidFill>
                <a:latin typeface="Arial" pitchFamily="34" charset="0"/>
                <a:ea typeface="Arial" pitchFamily="34" charset="-122"/>
                <a:cs typeface="Arial" pitchFamily="34" charset="-120"/>
              </a:rPr>
              <a:t>
</a:t>
            </a:r>
            <a:endParaRPr lang="en-US" sz="1200" dirty="0"/>
          </a:p>
        </p:txBody>
      </p:sp>
      <p:sp>
        <p:nvSpPr>
          <p:cNvPr id="11" name="Text 4"/>
          <p:cNvSpPr txBox="1"/>
          <p:nvPr/>
        </p:nvSpPr>
        <p:spPr>
          <a:xfrm>
            <a:off x="5368750" y="1021800"/>
            <a:ext cx="3279900" cy="384900"/>
          </a:xfrm>
          <a:prstGeom prst="rect">
            <a:avLst/>
          </a:prstGeom>
          <a:noFill/>
          <a:ln/>
        </p:spPr>
        <p:txBody>
          <a:bodyPr wrap="square" lIns="0" tIns="0" rIns="0" bIns="0" rtlCol="0" anchor="ctr"/>
          <a:lstStyle/>
          <a:p>
            <a:pPr marL="0" indent="0" algn="l">
              <a:lnSpc>
                <a:spcPct val="90000"/>
              </a:lnSpc>
              <a:buNone/>
            </a:pPr>
            <a:r>
              <a:rPr lang="ru-RU" sz="1600" dirty="0">
                <a:solidFill>
                  <a:srgbClr val="D26A71"/>
                </a:solidFill>
                <a:latin typeface="Arial" pitchFamily="34" charset="0"/>
                <a:ea typeface="Arial" pitchFamily="34" charset="-122"/>
                <a:cs typeface="Arial" pitchFamily="34" charset="-120"/>
              </a:rPr>
              <a:t>Шкала времени</a:t>
            </a:r>
            <a:endParaRPr lang="en-US" sz="1600" dirty="0"/>
          </a:p>
        </p:txBody>
      </p:sp>
      <p:sp>
        <p:nvSpPr>
          <p:cNvPr id="12" name="Text 5"/>
          <p:cNvSpPr txBox="1"/>
          <p:nvPr/>
        </p:nvSpPr>
        <p:spPr>
          <a:xfrm>
            <a:off x="4806075" y="1511261"/>
            <a:ext cx="3837300" cy="771300"/>
          </a:xfrm>
          <a:prstGeom prst="rect">
            <a:avLst/>
          </a:prstGeom>
          <a:noFill/>
          <a:ln/>
        </p:spPr>
        <p:txBody>
          <a:bodyPr wrap="square" lIns="0" tIns="0" rIns="0" bIns="0" rtlCol="0" anchor="t"/>
          <a:lstStyle/>
          <a:p>
            <a:pPr>
              <a:lnSpc>
                <a:spcPct val="110046"/>
              </a:lnSpc>
            </a:pPr>
            <a:r>
              <a:rPr lang="ru-RU" sz="1200" dirty="0">
                <a:solidFill>
                  <a:srgbClr val="1C3354"/>
                </a:solidFill>
                <a:latin typeface="Arial" pitchFamily="34" charset="0"/>
                <a:ea typeface="Arial" pitchFamily="34" charset="-122"/>
                <a:cs typeface="Arial" pitchFamily="34" charset="-120"/>
              </a:rPr>
              <a:t>Шкала времени. В правой части создают временную шкалу, на которой с помощью цвета отмечают определенное количество ячеек, чтобы обозначить время выполнения задач по проекту.</a:t>
            </a:r>
          </a:p>
          <a:p>
            <a:pPr marL="0" indent="0" algn="l">
              <a:lnSpc>
                <a:spcPct val="110046"/>
              </a:lnSpc>
              <a:buNone/>
            </a:pPr>
            <a:r>
              <a:rPr lang="en-US" sz="1200" dirty="0">
                <a:solidFill>
                  <a:srgbClr val="1C3354"/>
                </a:solidFill>
                <a:latin typeface="Arial" pitchFamily="34" charset="0"/>
                <a:ea typeface="Arial" pitchFamily="34" charset="-122"/>
                <a:cs typeface="Arial" pitchFamily="34" charset="-120"/>
              </a:rPr>
              <a:t>
</a:t>
            </a:r>
            <a:endParaRPr lang="en-US" sz="1200" dirty="0"/>
          </a:p>
        </p:txBody>
      </p:sp>
      <p:sp>
        <p:nvSpPr>
          <p:cNvPr id="13" name="Text 6"/>
          <p:cNvSpPr txBox="1"/>
          <p:nvPr/>
        </p:nvSpPr>
        <p:spPr>
          <a:xfrm>
            <a:off x="1058075" y="3548397"/>
            <a:ext cx="3279900" cy="384900"/>
          </a:xfrm>
          <a:prstGeom prst="rect">
            <a:avLst/>
          </a:prstGeom>
          <a:noFill/>
          <a:ln/>
        </p:spPr>
        <p:txBody>
          <a:bodyPr wrap="square" lIns="0" tIns="0" rIns="0" bIns="0" rtlCol="0" anchor="ctr"/>
          <a:lstStyle/>
          <a:p>
            <a:pPr marL="0" indent="0" algn="l">
              <a:lnSpc>
                <a:spcPct val="90000"/>
              </a:lnSpc>
              <a:buNone/>
            </a:pPr>
            <a:r>
              <a:rPr lang="en-US" sz="1600" dirty="0">
                <a:solidFill>
                  <a:srgbClr val="D26A71"/>
                </a:solidFill>
                <a:latin typeface="Arial" pitchFamily="34" charset="0"/>
                <a:ea typeface="Arial" pitchFamily="34" charset="-122"/>
                <a:cs typeface="Arial" pitchFamily="34" charset="-120"/>
              </a:rPr>
              <a:t>Зависимости между задачами
</a:t>
            </a:r>
            <a:endParaRPr lang="en-US" sz="1600" dirty="0"/>
          </a:p>
        </p:txBody>
      </p:sp>
      <p:sp>
        <p:nvSpPr>
          <p:cNvPr id="14" name="Text 7"/>
          <p:cNvSpPr txBox="1"/>
          <p:nvPr/>
        </p:nvSpPr>
        <p:spPr>
          <a:xfrm>
            <a:off x="500625" y="4175047"/>
            <a:ext cx="3837300" cy="771300"/>
          </a:xfrm>
          <a:prstGeom prst="rect">
            <a:avLst/>
          </a:prstGeom>
          <a:noFill/>
          <a:ln/>
        </p:spPr>
        <p:txBody>
          <a:bodyPr wrap="square" lIns="0" tIns="0" rIns="0" bIns="0" rtlCol="0" anchor="t"/>
          <a:lstStyle/>
          <a:p>
            <a:pPr marL="0" indent="0" algn="l">
              <a:lnSpc>
                <a:spcPct val="110046"/>
              </a:lnSpc>
              <a:buNone/>
            </a:pPr>
            <a:r>
              <a:rPr lang="en-US" sz="1200" dirty="0">
                <a:solidFill>
                  <a:srgbClr val="1C3354"/>
                </a:solidFill>
                <a:latin typeface="Arial" pitchFamily="34" charset="0"/>
                <a:ea typeface="Arial" pitchFamily="34" charset="-122"/>
                <a:cs typeface="Arial" pitchFamily="34" charset="-120"/>
              </a:rPr>
              <a:t>Стрелки показывают последовательность и взаимосвязь между задачами, важные для планирования.
</a:t>
            </a:r>
            <a:endParaRPr lang="en-US" sz="1200" dirty="0"/>
          </a:p>
        </p:txBody>
      </p:sp>
      <p:sp>
        <p:nvSpPr>
          <p:cNvPr id="15" name="Text 8"/>
          <p:cNvSpPr txBox="1"/>
          <p:nvPr/>
        </p:nvSpPr>
        <p:spPr>
          <a:xfrm>
            <a:off x="5301591" y="3636497"/>
            <a:ext cx="3279900" cy="384900"/>
          </a:xfrm>
          <a:prstGeom prst="rect">
            <a:avLst/>
          </a:prstGeom>
          <a:noFill/>
          <a:ln/>
        </p:spPr>
        <p:txBody>
          <a:bodyPr wrap="square" lIns="0" tIns="0" rIns="0" bIns="0" rtlCol="0" anchor="ctr"/>
          <a:lstStyle/>
          <a:p>
            <a:pPr marL="0" indent="0" algn="l">
              <a:lnSpc>
                <a:spcPct val="90000"/>
              </a:lnSpc>
              <a:buNone/>
            </a:pPr>
            <a:r>
              <a:rPr lang="en-US" sz="1600" dirty="0" err="1">
                <a:solidFill>
                  <a:srgbClr val="D26A71"/>
                </a:solidFill>
                <a:latin typeface="Arial" pitchFamily="34" charset="0"/>
                <a:ea typeface="Arial" pitchFamily="34" charset="-122"/>
                <a:cs typeface="Arial" pitchFamily="34" charset="-120"/>
              </a:rPr>
              <a:t>Статус</a:t>
            </a:r>
            <a:r>
              <a:rPr lang="en-US" sz="1600" dirty="0">
                <a:solidFill>
                  <a:srgbClr val="D26A71"/>
                </a:solidFill>
                <a:latin typeface="Arial" pitchFamily="34" charset="0"/>
                <a:ea typeface="Arial" pitchFamily="34" charset="-122"/>
                <a:cs typeface="Arial" pitchFamily="34" charset="-120"/>
              </a:rPr>
              <a:t> </a:t>
            </a:r>
            <a:r>
              <a:rPr lang="en-US" sz="1600" dirty="0" err="1">
                <a:solidFill>
                  <a:srgbClr val="D26A71"/>
                </a:solidFill>
                <a:latin typeface="Arial" pitchFamily="34" charset="0"/>
                <a:ea typeface="Arial" pitchFamily="34" charset="-122"/>
                <a:cs typeface="Arial" pitchFamily="34" charset="-120"/>
              </a:rPr>
              <a:t>выполнения</a:t>
            </a:r>
            <a:r>
              <a:rPr lang="ru-RU" sz="1600" dirty="0">
                <a:solidFill>
                  <a:srgbClr val="D26A71"/>
                </a:solidFill>
                <a:latin typeface="Arial" pitchFamily="34" charset="0"/>
                <a:ea typeface="Arial" pitchFamily="34" charset="-122"/>
                <a:cs typeface="Arial" pitchFamily="34" charset="-120"/>
              </a:rPr>
              <a:t> (Вехи, контрольные точки)</a:t>
            </a:r>
            <a:r>
              <a:rPr lang="en-US" sz="1600" dirty="0">
                <a:solidFill>
                  <a:srgbClr val="D26A71"/>
                </a:solidFill>
                <a:latin typeface="Arial" pitchFamily="34" charset="0"/>
                <a:ea typeface="Arial" pitchFamily="34" charset="-122"/>
                <a:cs typeface="Arial" pitchFamily="34" charset="-120"/>
              </a:rPr>
              <a:t>
</a:t>
            </a:r>
            <a:endParaRPr lang="en-US" sz="1600" dirty="0"/>
          </a:p>
        </p:txBody>
      </p:sp>
      <p:sp>
        <p:nvSpPr>
          <p:cNvPr id="16" name="Text 9"/>
          <p:cNvSpPr txBox="1"/>
          <p:nvPr/>
        </p:nvSpPr>
        <p:spPr>
          <a:xfrm>
            <a:off x="4806025" y="4175047"/>
            <a:ext cx="3837300" cy="771300"/>
          </a:xfrm>
          <a:prstGeom prst="rect">
            <a:avLst/>
          </a:prstGeom>
          <a:noFill/>
          <a:ln/>
        </p:spPr>
        <p:txBody>
          <a:bodyPr wrap="square" lIns="0" tIns="0" rIns="0" bIns="0" rtlCol="0" anchor="t"/>
          <a:lstStyle/>
          <a:p>
            <a:pPr marL="0" indent="0" algn="l">
              <a:lnSpc>
                <a:spcPct val="110046"/>
              </a:lnSpc>
              <a:buNone/>
            </a:pPr>
            <a:r>
              <a:rPr lang="en-US" sz="1200" dirty="0">
                <a:solidFill>
                  <a:srgbClr val="1C3354"/>
                </a:solidFill>
                <a:latin typeface="Arial" pitchFamily="34" charset="0"/>
                <a:ea typeface="Arial" pitchFamily="34" charset="-122"/>
                <a:cs typeface="Arial" pitchFamily="34" charset="-120"/>
              </a:rPr>
              <a:t>Цвет и заполнение полос показывают прогресс — запланированное, выполненное и оставшееся время.
</a:t>
            </a:r>
            <a:endParaRPr lang="en-US" sz="1200" dirty="0"/>
          </a:p>
        </p:txBody>
      </p:sp>
      <p:pic>
        <p:nvPicPr>
          <p:cNvPr id="17" name="Image 2" descr="preencoded.png">
            <a:extLst>
              <a:ext uri="{FF2B5EF4-FFF2-40B4-BE49-F238E27FC236}">
                <a16:creationId xmlns:a16="http://schemas.microsoft.com/office/drawing/2014/main" id="{B90A81E1-2846-41C5-AF02-966980CA9977}"/>
              </a:ext>
            </a:extLst>
          </p:cNvPr>
          <p:cNvPicPr>
            <a:picLocks noChangeAspect="1"/>
          </p:cNvPicPr>
          <p:nvPr/>
        </p:nvPicPr>
        <p:blipFill>
          <a:blip r:embed="rId7"/>
          <a:stretch>
            <a:fillRect/>
          </a:stretch>
        </p:blipFill>
        <p:spPr>
          <a:xfrm>
            <a:off x="592006" y="2404167"/>
            <a:ext cx="336787" cy="384900"/>
          </a:xfrm>
          <a:prstGeom prst="rect">
            <a:avLst/>
          </a:prstGeom>
        </p:spPr>
      </p:pic>
      <p:sp>
        <p:nvSpPr>
          <p:cNvPr id="18" name="Text 4">
            <a:extLst>
              <a:ext uri="{FF2B5EF4-FFF2-40B4-BE49-F238E27FC236}">
                <a16:creationId xmlns:a16="http://schemas.microsoft.com/office/drawing/2014/main" id="{F41700C5-40CB-4A62-A8C6-D6E3EE9C3A5F}"/>
              </a:ext>
            </a:extLst>
          </p:cNvPr>
          <p:cNvSpPr txBox="1"/>
          <p:nvPr/>
        </p:nvSpPr>
        <p:spPr>
          <a:xfrm>
            <a:off x="1114668" y="2518112"/>
            <a:ext cx="3279900" cy="384900"/>
          </a:xfrm>
          <a:prstGeom prst="rect">
            <a:avLst/>
          </a:prstGeom>
          <a:noFill/>
          <a:ln/>
        </p:spPr>
        <p:txBody>
          <a:bodyPr wrap="square" lIns="0" tIns="0" rIns="0" bIns="0" rtlCol="0" anchor="ctr"/>
          <a:lstStyle/>
          <a:p>
            <a:pPr marL="0" indent="0" algn="l">
              <a:lnSpc>
                <a:spcPct val="90000"/>
              </a:lnSpc>
              <a:buNone/>
            </a:pPr>
            <a:r>
              <a:rPr lang="en-US" sz="1600" dirty="0">
                <a:solidFill>
                  <a:srgbClr val="D26A71"/>
                </a:solidFill>
                <a:latin typeface="Arial" pitchFamily="34" charset="0"/>
                <a:ea typeface="Arial" pitchFamily="34" charset="-122"/>
                <a:cs typeface="Arial" pitchFamily="34" charset="-120"/>
              </a:rPr>
              <a:t>Сроки начала и окончания
</a:t>
            </a:r>
            <a:endParaRPr lang="en-US" sz="1600" dirty="0"/>
          </a:p>
        </p:txBody>
      </p:sp>
      <p:sp>
        <p:nvSpPr>
          <p:cNvPr id="19" name="Text 5">
            <a:extLst>
              <a:ext uri="{FF2B5EF4-FFF2-40B4-BE49-F238E27FC236}">
                <a16:creationId xmlns:a16="http://schemas.microsoft.com/office/drawing/2014/main" id="{6C2EE034-CA21-4B05-B3E7-70A6F1FD6428}"/>
              </a:ext>
            </a:extLst>
          </p:cNvPr>
          <p:cNvSpPr txBox="1"/>
          <p:nvPr/>
        </p:nvSpPr>
        <p:spPr>
          <a:xfrm>
            <a:off x="571318" y="2907715"/>
            <a:ext cx="3837300" cy="771300"/>
          </a:xfrm>
          <a:prstGeom prst="rect">
            <a:avLst/>
          </a:prstGeom>
          <a:noFill/>
          <a:ln/>
        </p:spPr>
        <p:txBody>
          <a:bodyPr wrap="square" lIns="0" tIns="0" rIns="0" bIns="0" rtlCol="0" anchor="t"/>
          <a:lstStyle/>
          <a:p>
            <a:pPr>
              <a:lnSpc>
                <a:spcPct val="110046"/>
              </a:lnSpc>
            </a:pPr>
            <a:r>
              <a:rPr lang="en-US" sz="1200" dirty="0" err="1">
                <a:solidFill>
                  <a:srgbClr val="1C3354"/>
                </a:solidFill>
                <a:latin typeface="Arial" pitchFamily="34" charset="0"/>
                <a:ea typeface="Arial" pitchFamily="34" charset="-122"/>
                <a:cs typeface="Arial" pitchFamily="34" charset="-120"/>
              </a:rPr>
              <a:t>Отмечаются</a:t>
            </a:r>
            <a:r>
              <a:rPr lang="en-US" sz="1200" dirty="0">
                <a:solidFill>
                  <a:srgbClr val="1C3354"/>
                </a:solidFill>
                <a:latin typeface="Arial" pitchFamily="34" charset="0"/>
                <a:ea typeface="Arial" pitchFamily="34" charset="-122"/>
                <a:cs typeface="Arial" pitchFamily="34" charset="-120"/>
              </a:rPr>
              <a:t> </a:t>
            </a:r>
            <a:r>
              <a:rPr lang="en-US" sz="1200" dirty="0" err="1">
                <a:solidFill>
                  <a:srgbClr val="1C3354"/>
                </a:solidFill>
                <a:latin typeface="Arial" pitchFamily="34" charset="0"/>
                <a:ea typeface="Arial" pitchFamily="34" charset="-122"/>
                <a:cs typeface="Arial" pitchFamily="34" charset="-120"/>
              </a:rPr>
              <a:t>дата</a:t>
            </a:r>
            <a:r>
              <a:rPr lang="en-US" sz="1200" dirty="0">
                <a:solidFill>
                  <a:srgbClr val="1C3354"/>
                </a:solidFill>
                <a:latin typeface="Arial" pitchFamily="34" charset="0"/>
                <a:ea typeface="Arial" pitchFamily="34" charset="-122"/>
                <a:cs typeface="Arial" pitchFamily="34" charset="-120"/>
              </a:rPr>
              <a:t> </a:t>
            </a:r>
            <a:r>
              <a:rPr lang="en-US" sz="1200" dirty="0" err="1">
                <a:solidFill>
                  <a:srgbClr val="1C3354"/>
                </a:solidFill>
                <a:latin typeface="Arial" pitchFamily="34" charset="0"/>
                <a:ea typeface="Arial" pitchFamily="34" charset="-122"/>
                <a:cs typeface="Arial" pitchFamily="34" charset="-120"/>
              </a:rPr>
              <a:t>старта</a:t>
            </a:r>
            <a:r>
              <a:rPr lang="en-US" sz="1200" dirty="0">
                <a:solidFill>
                  <a:srgbClr val="1C3354"/>
                </a:solidFill>
                <a:latin typeface="Arial" pitchFamily="34" charset="0"/>
                <a:ea typeface="Arial" pitchFamily="34" charset="-122"/>
                <a:cs typeface="Arial" pitchFamily="34" charset="-120"/>
              </a:rPr>
              <a:t> и </a:t>
            </a:r>
            <a:r>
              <a:rPr lang="en-US" sz="1200" dirty="0" err="1">
                <a:solidFill>
                  <a:srgbClr val="1C3354"/>
                </a:solidFill>
                <a:latin typeface="Arial" pitchFamily="34" charset="0"/>
                <a:ea typeface="Arial" pitchFamily="34" charset="-122"/>
                <a:cs typeface="Arial" pitchFamily="34" charset="-120"/>
              </a:rPr>
              <a:t>завершения</a:t>
            </a:r>
            <a:r>
              <a:rPr lang="en-US" sz="1200" dirty="0">
                <a:solidFill>
                  <a:srgbClr val="1C3354"/>
                </a:solidFill>
                <a:latin typeface="Arial" pitchFamily="34" charset="0"/>
                <a:ea typeface="Arial" pitchFamily="34" charset="-122"/>
                <a:cs typeface="Arial" pitchFamily="34" charset="-120"/>
              </a:rPr>
              <a:t> </a:t>
            </a:r>
            <a:r>
              <a:rPr lang="en-US" sz="1200" dirty="0" err="1">
                <a:solidFill>
                  <a:srgbClr val="1C3354"/>
                </a:solidFill>
                <a:latin typeface="Arial" pitchFamily="34" charset="0"/>
                <a:ea typeface="Arial" pitchFamily="34" charset="-122"/>
                <a:cs typeface="Arial" pitchFamily="34" charset="-120"/>
              </a:rPr>
              <a:t>задач</a:t>
            </a:r>
            <a:r>
              <a:rPr lang="en-US" sz="1200" dirty="0">
                <a:solidFill>
                  <a:srgbClr val="1C3354"/>
                </a:solidFill>
                <a:latin typeface="Arial" pitchFamily="34" charset="0"/>
                <a:ea typeface="Arial" pitchFamily="34" charset="-122"/>
                <a:cs typeface="Arial" pitchFamily="34" charset="-120"/>
              </a:rPr>
              <a:t>, </a:t>
            </a:r>
            <a:r>
              <a:rPr lang="en-US" sz="1200" dirty="0" err="1">
                <a:solidFill>
                  <a:srgbClr val="1C3354"/>
                </a:solidFill>
                <a:latin typeface="Arial" pitchFamily="34" charset="0"/>
                <a:ea typeface="Arial" pitchFamily="34" charset="-122"/>
                <a:cs typeface="Arial" pitchFamily="34" charset="-120"/>
              </a:rPr>
              <a:t>позволяя</a:t>
            </a:r>
            <a:r>
              <a:rPr lang="en-US" sz="1200" dirty="0">
                <a:solidFill>
                  <a:srgbClr val="1C3354"/>
                </a:solidFill>
                <a:latin typeface="Arial" pitchFamily="34" charset="0"/>
                <a:ea typeface="Arial" pitchFamily="34" charset="-122"/>
                <a:cs typeface="Arial" pitchFamily="34" charset="-120"/>
              </a:rPr>
              <a:t> </a:t>
            </a:r>
            <a:r>
              <a:rPr lang="en-US" sz="1200" dirty="0" err="1">
                <a:solidFill>
                  <a:srgbClr val="1C3354"/>
                </a:solidFill>
                <a:latin typeface="Arial" pitchFamily="34" charset="0"/>
                <a:ea typeface="Arial" pitchFamily="34" charset="-122"/>
                <a:cs typeface="Arial" pitchFamily="34" charset="-120"/>
              </a:rPr>
              <a:t>видеть</a:t>
            </a:r>
            <a:r>
              <a:rPr lang="en-US" sz="1200" dirty="0">
                <a:solidFill>
                  <a:srgbClr val="1C3354"/>
                </a:solidFill>
                <a:latin typeface="Arial" pitchFamily="34" charset="0"/>
                <a:ea typeface="Arial" pitchFamily="34" charset="-122"/>
                <a:cs typeface="Arial" pitchFamily="34" charset="-120"/>
              </a:rPr>
              <a:t> </a:t>
            </a:r>
            <a:r>
              <a:rPr lang="en-US" sz="1200" dirty="0" err="1">
                <a:solidFill>
                  <a:srgbClr val="1C3354"/>
                </a:solidFill>
                <a:latin typeface="Arial" pitchFamily="34" charset="0"/>
                <a:ea typeface="Arial" pitchFamily="34" charset="-122"/>
                <a:cs typeface="Arial" pitchFamily="34" charset="-120"/>
              </a:rPr>
              <a:t>график</a:t>
            </a:r>
            <a:r>
              <a:rPr lang="en-US" sz="1200" dirty="0">
                <a:solidFill>
                  <a:srgbClr val="1C3354"/>
                </a:solidFill>
                <a:latin typeface="Arial" pitchFamily="34" charset="0"/>
                <a:ea typeface="Arial" pitchFamily="34" charset="-122"/>
                <a:cs typeface="Arial" pitchFamily="34" charset="-120"/>
              </a:rPr>
              <a:t> </a:t>
            </a:r>
            <a:r>
              <a:rPr lang="en-US" sz="1200" dirty="0" err="1">
                <a:solidFill>
                  <a:srgbClr val="1C3354"/>
                </a:solidFill>
                <a:latin typeface="Arial" pitchFamily="34" charset="0"/>
                <a:ea typeface="Arial" pitchFamily="34" charset="-122"/>
                <a:cs typeface="Arial" pitchFamily="34" charset="-120"/>
              </a:rPr>
              <a:t>работы</a:t>
            </a:r>
            <a:r>
              <a:rPr lang="en-US" sz="1200" dirty="0">
                <a:solidFill>
                  <a:srgbClr val="1C3354"/>
                </a:solidFill>
                <a:latin typeface="Arial" pitchFamily="34" charset="0"/>
                <a:ea typeface="Arial" pitchFamily="34" charset="-122"/>
                <a:cs typeface="Arial" pitchFamily="34" charset="-120"/>
              </a:rPr>
              <a:t> в </a:t>
            </a:r>
            <a:r>
              <a:rPr lang="en-US" sz="1200" dirty="0" err="1">
                <a:solidFill>
                  <a:srgbClr val="1C3354"/>
                </a:solidFill>
                <a:latin typeface="Arial" pitchFamily="34" charset="0"/>
                <a:ea typeface="Arial" pitchFamily="34" charset="-122"/>
                <a:cs typeface="Arial" pitchFamily="34" charset="-120"/>
              </a:rPr>
              <a:t>рамках</a:t>
            </a:r>
            <a:r>
              <a:rPr lang="en-US" sz="1200" dirty="0">
                <a:solidFill>
                  <a:srgbClr val="1C3354"/>
                </a:solidFill>
                <a:latin typeface="Arial" pitchFamily="34" charset="0"/>
                <a:ea typeface="Arial" pitchFamily="34" charset="-122"/>
                <a:cs typeface="Arial" pitchFamily="34" charset="-120"/>
              </a:rPr>
              <a:t> </a:t>
            </a:r>
            <a:r>
              <a:rPr lang="en-US" sz="1200" dirty="0" err="1">
                <a:solidFill>
                  <a:srgbClr val="1C3354"/>
                </a:solidFill>
                <a:latin typeface="Arial" pitchFamily="34" charset="0"/>
                <a:ea typeface="Arial" pitchFamily="34" charset="-122"/>
                <a:cs typeface="Arial" pitchFamily="34" charset="-120"/>
              </a:rPr>
              <a:t>проекта</a:t>
            </a:r>
            <a:r>
              <a:rPr lang="en-US" sz="1200" dirty="0">
                <a:solidFill>
                  <a:srgbClr val="1C3354"/>
                </a:solidFill>
                <a:latin typeface="Arial" pitchFamily="34" charset="0"/>
                <a:ea typeface="Arial" pitchFamily="34" charset="-122"/>
                <a:cs typeface="Arial" pitchFamily="34" charset="-120"/>
              </a:rPr>
              <a:t>.</a:t>
            </a:r>
            <a:r>
              <a:rPr lang="ru-RU" sz="1200" dirty="0">
                <a:solidFill>
                  <a:srgbClr val="1C3354"/>
                </a:solidFill>
                <a:latin typeface="Arial" pitchFamily="34" charset="0"/>
                <a:ea typeface="Arial" pitchFamily="34" charset="-122"/>
                <a:cs typeface="Arial" pitchFamily="34" charset="-120"/>
              </a:rPr>
              <a:t> </a:t>
            </a:r>
            <a:r>
              <a:rPr lang="en-US" sz="1200" dirty="0">
                <a:solidFill>
                  <a:srgbClr val="1C3354"/>
                </a:solidFill>
                <a:latin typeface="Arial" pitchFamily="34" charset="0"/>
                <a:ea typeface="Arial" pitchFamily="34" charset="-122"/>
                <a:cs typeface="Arial" pitchFamily="34" charset="-120"/>
              </a:rPr>
              <a:t>
</a:t>
            </a:r>
            <a:endParaRPr lang="en-US" sz="1200" dirty="0"/>
          </a:p>
        </p:txBody>
      </p:sp>
      <p:pic>
        <p:nvPicPr>
          <p:cNvPr id="21" name="Рисунок 20" descr="Линейчатая диаграмма с тенденцией к повышению">
            <a:extLst>
              <a:ext uri="{FF2B5EF4-FFF2-40B4-BE49-F238E27FC236}">
                <a16:creationId xmlns:a16="http://schemas.microsoft.com/office/drawing/2014/main" id="{CB628F03-41A8-4BE8-8E96-48B16B4DFAA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05675" y="860387"/>
            <a:ext cx="675812" cy="675812"/>
          </a:xfrm>
          <a:prstGeom prst="rect">
            <a:avLst/>
          </a:prstGeom>
        </p:spPr>
      </p:pic>
      <p:pic>
        <p:nvPicPr>
          <p:cNvPr id="23" name="Рисунок 22" descr="Человек с идеей">
            <a:extLst>
              <a:ext uri="{FF2B5EF4-FFF2-40B4-BE49-F238E27FC236}">
                <a16:creationId xmlns:a16="http://schemas.microsoft.com/office/drawing/2014/main" id="{4DBDEB65-080A-49D3-BE4F-FB41384B643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76808" y="2387059"/>
            <a:ext cx="624783" cy="624783"/>
          </a:xfrm>
          <a:prstGeom prst="rect">
            <a:avLst/>
          </a:prstGeom>
        </p:spPr>
      </p:pic>
      <p:sp>
        <p:nvSpPr>
          <p:cNvPr id="24" name="Прямоугольник 23">
            <a:extLst>
              <a:ext uri="{FF2B5EF4-FFF2-40B4-BE49-F238E27FC236}">
                <a16:creationId xmlns:a16="http://schemas.microsoft.com/office/drawing/2014/main" id="{13A71270-16A6-4BF6-8284-BC1874CB5ACF}"/>
              </a:ext>
            </a:extLst>
          </p:cNvPr>
          <p:cNvSpPr/>
          <p:nvPr/>
        </p:nvSpPr>
        <p:spPr>
          <a:xfrm>
            <a:off x="5281487" y="2486090"/>
            <a:ext cx="1652119" cy="313932"/>
          </a:xfrm>
          <a:prstGeom prst="rect">
            <a:avLst/>
          </a:prstGeom>
        </p:spPr>
        <p:txBody>
          <a:bodyPr wrap="none">
            <a:spAutoFit/>
          </a:bodyPr>
          <a:lstStyle/>
          <a:p>
            <a:pPr>
              <a:lnSpc>
                <a:spcPct val="90000"/>
              </a:lnSpc>
            </a:pPr>
            <a:r>
              <a:rPr lang="ru-RU" sz="1600" dirty="0">
                <a:solidFill>
                  <a:srgbClr val="D26A71"/>
                </a:solidFill>
                <a:latin typeface="Arial" pitchFamily="34" charset="0"/>
                <a:ea typeface="Arial" pitchFamily="34" charset="-122"/>
                <a:cs typeface="Arial" pitchFamily="34" charset="-120"/>
              </a:rPr>
              <a:t>Ответственные</a:t>
            </a:r>
            <a:endParaRPr lang="en-US" sz="1600" dirty="0"/>
          </a:p>
        </p:txBody>
      </p:sp>
      <p:sp>
        <p:nvSpPr>
          <p:cNvPr id="27" name="Прямоугольник 26">
            <a:extLst>
              <a:ext uri="{FF2B5EF4-FFF2-40B4-BE49-F238E27FC236}">
                <a16:creationId xmlns:a16="http://schemas.microsoft.com/office/drawing/2014/main" id="{98FECD10-7828-4B68-9701-1A0442F80C4C}"/>
              </a:ext>
            </a:extLst>
          </p:cNvPr>
          <p:cNvSpPr/>
          <p:nvPr/>
        </p:nvSpPr>
        <p:spPr>
          <a:xfrm>
            <a:off x="4806075" y="2922983"/>
            <a:ext cx="4572000" cy="523220"/>
          </a:xfrm>
          <a:prstGeom prst="rect">
            <a:avLst/>
          </a:prstGeom>
        </p:spPr>
        <p:txBody>
          <a:bodyPr>
            <a:spAutoFit/>
          </a:bodyPr>
          <a:lstStyle/>
          <a:p>
            <a:r>
              <a:rPr lang="ru-RU" sz="1600" dirty="0">
                <a:solidFill>
                  <a:srgbClr val="1C3354"/>
                </a:solidFill>
                <a:latin typeface="Arial" pitchFamily="34" charset="0"/>
                <a:ea typeface="Arial" pitchFamily="34" charset="-122"/>
                <a:cs typeface="Arial" pitchFamily="34" charset="-120"/>
              </a:rPr>
              <a:t> </a:t>
            </a:r>
            <a:r>
              <a:rPr lang="ru-RU" sz="1200" dirty="0">
                <a:solidFill>
                  <a:srgbClr val="1C3354"/>
                </a:solidFill>
                <a:latin typeface="Arial" pitchFamily="34" charset="0"/>
                <a:ea typeface="Arial" pitchFamily="34" charset="-122"/>
                <a:cs typeface="Arial" pitchFamily="34" charset="-120"/>
              </a:rPr>
              <a:t>Возле сроков указывают сотрудника, ответственного за выполнение конкретной задачи.</a:t>
            </a:r>
            <a:endParaRPr lang="ru-RU"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E6E9EF"/>
        </a:solidFill>
        <a:effectLst/>
      </p:bgPr>
    </p:bg>
    <p:spTree>
      <p:nvGrpSpPr>
        <p:cNvPr id="1" name=""/>
        <p:cNvGrpSpPr/>
        <p:nvPr/>
      </p:nvGrpSpPr>
      <p:grpSpPr>
        <a:xfrm>
          <a:off x="0" y="0"/>
          <a:ext cx="0" cy="0"/>
          <a:chOff x="0" y="0"/>
          <a:chExt cx="0" cy="0"/>
        </a:xfrm>
      </p:grpSpPr>
      <p:sp>
        <p:nvSpPr>
          <p:cNvPr id="6"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12</a:t>
            </a:r>
            <a:endParaRPr lang="en-US" sz="1200" dirty="0"/>
          </a:p>
        </p:txBody>
      </p:sp>
      <p:sp>
        <p:nvSpPr>
          <p:cNvPr id="9" name="Text 3"/>
          <p:cNvSpPr txBox="1"/>
          <p:nvPr/>
        </p:nvSpPr>
        <p:spPr>
          <a:xfrm>
            <a:off x="292824" y="225670"/>
            <a:ext cx="8444775" cy="2263530"/>
          </a:xfrm>
          <a:prstGeom prst="rect">
            <a:avLst/>
          </a:prstGeom>
          <a:noFill/>
          <a:ln/>
        </p:spPr>
        <p:txBody>
          <a:bodyPr wrap="square" lIns="0" tIns="0" rIns="0" bIns="0" rtlCol="0" anchor="t"/>
          <a:lstStyle/>
          <a:p>
            <a:r>
              <a:rPr lang="ru-RU" sz="2000" dirty="0">
                <a:solidFill>
                  <a:srgbClr val="333E49"/>
                </a:solidFill>
                <a:latin typeface="Roboto" panose="02000000000000000000" pitchFamily="2" charset="0"/>
              </a:rPr>
              <a:t>Существует несколько типов зависимостей между задачами:</a:t>
            </a:r>
          </a:p>
          <a:p>
            <a:endParaRPr lang="ru-RU" sz="2800" dirty="0">
              <a:solidFill>
                <a:srgbClr val="333E49"/>
              </a:solidFill>
              <a:latin typeface="Roboto" panose="02000000000000000000" pitchFamily="2" charset="0"/>
            </a:endParaRPr>
          </a:p>
          <a:p>
            <a:pPr marL="457200" indent="-457200">
              <a:buFont typeface="Arial" panose="020B0604020202020204" pitchFamily="34" charset="0"/>
              <a:buChar char="•"/>
            </a:pPr>
            <a:r>
              <a:rPr lang="ru-RU" dirty="0">
                <a:solidFill>
                  <a:srgbClr val="1C3354"/>
                </a:solidFill>
                <a:latin typeface="Roboto" panose="02000000000000000000" pitchFamily="2" charset="0"/>
              </a:rPr>
              <a:t>Окончание-начало — следующая задача зависит от предыдущей.</a:t>
            </a:r>
          </a:p>
          <a:p>
            <a:pPr marL="457200" indent="-457200">
              <a:buFont typeface="Arial" panose="020B0604020202020204" pitchFamily="34" charset="0"/>
              <a:buChar char="•"/>
            </a:pPr>
            <a:r>
              <a:rPr lang="ru-RU" dirty="0">
                <a:solidFill>
                  <a:srgbClr val="1C3354"/>
                </a:solidFill>
                <a:latin typeface="Roboto" panose="02000000000000000000" pitchFamily="2" charset="0"/>
              </a:rPr>
              <a:t>Окончание-окончание — задачи нужно закончить одновременно.</a:t>
            </a:r>
          </a:p>
          <a:p>
            <a:pPr marL="457200" indent="-457200">
              <a:buFont typeface="Arial" panose="020B0604020202020204" pitchFamily="34" charset="0"/>
              <a:buChar char="•"/>
            </a:pPr>
            <a:r>
              <a:rPr lang="ru-RU" dirty="0">
                <a:solidFill>
                  <a:srgbClr val="1C3354"/>
                </a:solidFill>
                <a:latin typeface="Roboto" panose="02000000000000000000" pitchFamily="2" charset="0"/>
              </a:rPr>
              <a:t>Начало-начало — действия нужно начать одновременно.</a:t>
            </a:r>
          </a:p>
          <a:p>
            <a:pPr marL="457200" indent="-457200">
              <a:buFont typeface="Arial" panose="020B0604020202020204" pitchFamily="34" charset="0"/>
              <a:buChar char="•"/>
            </a:pPr>
            <a:r>
              <a:rPr lang="ru-RU" dirty="0">
                <a:solidFill>
                  <a:srgbClr val="1C3354"/>
                </a:solidFill>
                <a:latin typeface="Roboto" panose="02000000000000000000" pitchFamily="2" charset="0"/>
              </a:rPr>
              <a:t>Начало-окончание — действие нельзя начать, пока не завершится предыдущая задача.</a:t>
            </a:r>
          </a:p>
          <a:p>
            <a:pPr marL="457200" indent="-457200">
              <a:buFont typeface="Arial" panose="020B0604020202020204" pitchFamily="34" charset="0"/>
              <a:buChar char="•"/>
            </a:pPr>
            <a:endParaRPr lang="ru-RU" sz="2800" dirty="0">
              <a:solidFill>
                <a:srgbClr val="333E49"/>
              </a:solidFill>
              <a:latin typeface="Roboto" panose="02000000000000000000" pitchFamily="2" charset="0"/>
            </a:endParaRPr>
          </a:p>
        </p:txBody>
      </p:sp>
      <p:pic>
        <p:nvPicPr>
          <p:cNvPr id="10" name="Picture 2">
            <a:extLst>
              <a:ext uri="{FF2B5EF4-FFF2-40B4-BE49-F238E27FC236}">
                <a16:creationId xmlns:a16="http://schemas.microsoft.com/office/drawing/2014/main" id="{B65D3AB7-FC67-455B-AC10-4FD580591B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27" r="4059" b="16675"/>
          <a:stretch/>
        </p:blipFill>
        <p:spPr bwMode="auto">
          <a:xfrm>
            <a:off x="652175" y="2499109"/>
            <a:ext cx="4952252" cy="23571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4280975" y="929132"/>
            <a:ext cx="4663800" cy="3285236"/>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13</a:t>
            </a:r>
            <a:endParaRPr lang="en-US" sz="1200" dirty="0"/>
          </a:p>
        </p:txBody>
      </p:sp>
      <p:sp>
        <p:nvSpPr>
          <p:cNvPr id="6" name="Text 2"/>
          <p:cNvSpPr txBox="1"/>
          <p:nvPr/>
        </p:nvSpPr>
        <p:spPr>
          <a:xfrm>
            <a:off x="248300" y="786300"/>
            <a:ext cx="3758100" cy="3869700"/>
          </a:xfrm>
          <a:prstGeom prst="rect">
            <a:avLst/>
          </a:prstGeom>
          <a:noFill/>
          <a:ln/>
        </p:spPr>
        <p:txBody>
          <a:bodyPr wrap="square" lIns="0" tIns="0" rIns="0" bIns="0" rtlCol="0" anchor="ctr"/>
          <a:lstStyle/>
          <a:p>
            <a:pPr marL="0" indent="0" algn="l">
              <a:lnSpc>
                <a:spcPct val="100000"/>
              </a:lnSpc>
              <a:buNone/>
            </a:pPr>
            <a:r>
              <a:rPr lang="en-US" sz="2000" b="1" dirty="0">
                <a:solidFill>
                  <a:srgbClr val="1C3354"/>
                </a:solidFill>
                <a:latin typeface="Arial" pitchFamily="34" charset="0"/>
                <a:ea typeface="Arial" pitchFamily="34" charset="-122"/>
                <a:cs typeface="Arial" pitchFamily="34" charset="-120"/>
              </a:rPr>
              <a:t>Сравнительная характеристика сетевого графика и диаграммы Ганта
</a:t>
            </a:r>
            <a:r>
              <a:rPr lang="en-US" sz="1400" dirty="0">
                <a:solidFill>
                  <a:srgbClr val="1C3354"/>
                </a:solidFill>
                <a:latin typeface="Arial" pitchFamily="34" charset="0"/>
                <a:ea typeface="Arial" pitchFamily="34" charset="-122"/>
                <a:cs typeface="Arial" pitchFamily="34" charset="-120"/>
              </a:rPr>
              <a:t>
</a:t>
            </a:r>
            <a:r>
              <a:rPr lang="en-US" sz="1800" dirty="0">
                <a:solidFill>
                  <a:srgbClr val="1C3354"/>
                </a:solidFill>
                <a:latin typeface="Arial" pitchFamily="34" charset="0"/>
                <a:ea typeface="Arial" pitchFamily="34" charset="-122"/>
                <a:cs typeface="Arial" pitchFamily="34" charset="-120"/>
              </a:rPr>
              <a:t>
</a:t>
            </a:r>
            <a:r>
              <a:rPr lang="en-US" sz="1400" dirty="0">
                <a:solidFill>
                  <a:srgbClr val="1C3354"/>
                </a:solidFill>
                <a:latin typeface="Arial" pitchFamily="34" charset="0"/>
                <a:ea typeface="Arial" pitchFamily="34" charset="-122"/>
                <a:cs typeface="Arial" pitchFamily="34" charset="-120"/>
              </a:rPr>
              <a:t>Сетевой график лучше подходит для анализа взаимозависимостей, диаграмма Ганта — для визуализации графика исполнения.
</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14</a:t>
            </a:r>
            <a:endParaRPr lang="en-US" sz="1200" dirty="0"/>
          </a:p>
        </p:txBody>
      </p:sp>
      <p:sp>
        <p:nvSpPr>
          <p:cNvPr id="6" name="Text 2"/>
          <p:cNvSpPr txBox="1"/>
          <p:nvPr/>
        </p:nvSpPr>
        <p:spPr>
          <a:xfrm>
            <a:off x="652174" y="1056640"/>
            <a:ext cx="8288625" cy="3809560"/>
          </a:xfrm>
          <a:prstGeom prst="rect">
            <a:avLst/>
          </a:prstGeom>
          <a:noFill/>
          <a:ln/>
        </p:spPr>
        <p:txBody>
          <a:bodyPr wrap="square" lIns="0" tIns="0" rIns="0" bIns="0" rtlCol="0" anchor="ctr"/>
          <a:lstStyle/>
          <a:p>
            <a:pPr algn="ctr"/>
            <a:r>
              <a:rPr lang="ru-RU" b="1" dirty="0">
                <a:solidFill>
                  <a:srgbClr val="2D343C"/>
                </a:solidFill>
                <a:latin typeface="Inter"/>
              </a:rPr>
              <a:t>Как создать диаграмму </a:t>
            </a:r>
            <a:r>
              <a:rPr lang="ru-RU" b="1" dirty="0" err="1">
                <a:solidFill>
                  <a:srgbClr val="2D343C"/>
                </a:solidFill>
                <a:latin typeface="Inter"/>
              </a:rPr>
              <a:t>Ганта</a:t>
            </a:r>
            <a:endParaRPr lang="ru-RU" b="1" dirty="0">
              <a:solidFill>
                <a:srgbClr val="2D343C"/>
              </a:solidFill>
              <a:latin typeface="Inter"/>
            </a:endParaRPr>
          </a:p>
          <a:p>
            <a:pPr algn="just"/>
            <a:r>
              <a:rPr lang="ru-RU" sz="1600" b="1" dirty="0">
                <a:solidFill>
                  <a:srgbClr val="2D343C"/>
                </a:solidFill>
                <a:latin typeface="Inter"/>
              </a:rPr>
              <a:t>1. Написать список действий</a:t>
            </a:r>
          </a:p>
          <a:p>
            <a:pPr algn="just"/>
            <a:r>
              <a:rPr lang="ru-RU" sz="1600" dirty="0">
                <a:solidFill>
                  <a:srgbClr val="333E49"/>
                </a:solidFill>
                <a:latin typeface="Roboto" panose="02000000000000000000" pitchFamily="2" charset="0"/>
              </a:rPr>
              <a:t>Чтобы построить диаграмму </a:t>
            </a:r>
            <a:r>
              <a:rPr lang="ru-RU" sz="1600" dirty="0" err="1">
                <a:solidFill>
                  <a:srgbClr val="333E49"/>
                </a:solidFill>
                <a:latin typeface="Roboto" panose="02000000000000000000" pitchFamily="2" charset="0"/>
              </a:rPr>
              <a:t>Ганта</a:t>
            </a:r>
            <a:r>
              <a:rPr lang="ru-RU" sz="1600" dirty="0">
                <a:solidFill>
                  <a:srgbClr val="333E49"/>
                </a:solidFill>
                <a:latin typeface="Roboto" panose="02000000000000000000" pitchFamily="2" charset="0"/>
              </a:rPr>
              <a:t>, в самом начале нужно составить список действий по проекту. Для этого берут цель и дробят ее на задачи, используя декомпозицию. </a:t>
            </a:r>
          </a:p>
          <a:p>
            <a:pPr algn="just"/>
            <a:r>
              <a:rPr lang="ru-RU" sz="1600" dirty="0">
                <a:solidFill>
                  <a:srgbClr val="333E49"/>
                </a:solidFill>
                <a:latin typeface="Roboto" panose="02000000000000000000" pitchFamily="2" charset="0"/>
              </a:rPr>
              <a:t>Декомпозиция  — это метод, который помогает из большой непонятной цели сделать список понятных небольших задач. </a:t>
            </a:r>
          </a:p>
          <a:p>
            <a:pPr algn="just"/>
            <a:r>
              <a:rPr lang="ru-RU" sz="1600" dirty="0">
                <a:solidFill>
                  <a:srgbClr val="333E49"/>
                </a:solidFill>
                <a:latin typeface="Roboto" panose="02000000000000000000" pitchFamily="2" charset="0"/>
              </a:rPr>
              <a:t>Насколько сильно дробить цели, решать вам. Важно, чтобы в итоге появился план проекта — список пошаговых действий, которые переносят на диаграмму. Например, нам нужно построить дом. Список действий по этой цели будет следующий:</a:t>
            </a:r>
          </a:p>
          <a:p>
            <a:pPr>
              <a:buFont typeface="+mj-lt"/>
              <a:buAutoNum type="arabicPeriod"/>
            </a:pPr>
            <a:r>
              <a:rPr lang="ru-RU" sz="1600" dirty="0">
                <a:solidFill>
                  <a:srgbClr val="2D343C"/>
                </a:solidFill>
                <a:latin typeface="Roboto" panose="02000000000000000000" pitchFamily="2" charset="0"/>
              </a:rPr>
              <a:t>Разработать проект</a:t>
            </a:r>
          </a:p>
          <a:p>
            <a:pPr>
              <a:buFont typeface="+mj-lt"/>
              <a:buAutoNum type="arabicPeriod"/>
            </a:pPr>
            <a:r>
              <a:rPr lang="ru-RU" sz="1600" dirty="0">
                <a:solidFill>
                  <a:srgbClr val="2D343C"/>
                </a:solidFill>
                <a:latin typeface="Roboto" panose="02000000000000000000" pitchFamily="2" charset="0"/>
              </a:rPr>
              <a:t>Посчитать расходы</a:t>
            </a:r>
          </a:p>
          <a:p>
            <a:pPr>
              <a:buFont typeface="+mj-lt"/>
              <a:buAutoNum type="arabicPeriod"/>
            </a:pPr>
            <a:r>
              <a:rPr lang="ru-RU" sz="1600" dirty="0">
                <a:solidFill>
                  <a:srgbClr val="2D343C"/>
                </a:solidFill>
                <a:latin typeface="Roboto" panose="02000000000000000000" pitchFamily="2" charset="0"/>
              </a:rPr>
              <a:t>Получить разрешение на строительство</a:t>
            </a:r>
          </a:p>
          <a:p>
            <a:pPr>
              <a:buFont typeface="+mj-lt"/>
              <a:buAutoNum type="arabicPeriod"/>
            </a:pPr>
            <a:r>
              <a:rPr lang="ru-RU" sz="1600" dirty="0">
                <a:solidFill>
                  <a:srgbClr val="2D343C"/>
                </a:solidFill>
                <a:latin typeface="Roboto" panose="02000000000000000000" pitchFamily="2" charset="0"/>
              </a:rPr>
              <a:t>Сделать фундамент</a:t>
            </a:r>
          </a:p>
          <a:p>
            <a:pPr>
              <a:buFont typeface="+mj-lt"/>
              <a:buAutoNum type="arabicPeriod"/>
            </a:pPr>
            <a:r>
              <a:rPr lang="ru-RU" sz="1600" dirty="0">
                <a:solidFill>
                  <a:srgbClr val="2D343C"/>
                </a:solidFill>
                <a:latin typeface="Roboto" panose="02000000000000000000" pitchFamily="2" charset="0"/>
              </a:rPr>
              <a:t>Выгнать стены</a:t>
            </a:r>
          </a:p>
          <a:p>
            <a:pPr>
              <a:buFont typeface="+mj-lt"/>
              <a:buAutoNum type="arabicPeriod"/>
            </a:pPr>
            <a:r>
              <a:rPr lang="ru-RU" sz="1600" dirty="0">
                <a:solidFill>
                  <a:srgbClr val="2D343C"/>
                </a:solidFill>
                <a:latin typeface="Roboto" panose="02000000000000000000" pitchFamily="2" charset="0"/>
              </a:rPr>
              <a:t>Сделать крышу</a:t>
            </a:r>
          </a:p>
          <a:p>
            <a:pPr>
              <a:buFont typeface="+mj-lt"/>
              <a:buAutoNum type="arabicPeriod"/>
            </a:pPr>
            <a:r>
              <a:rPr lang="ru-RU" sz="1600" dirty="0">
                <a:solidFill>
                  <a:srgbClr val="2D343C"/>
                </a:solidFill>
                <a:latin typeface="Roboto" panose="02000000000000000000" pitchFamily="2" charset="0"/>
              </a:rPr>
              <a:t>Провести отделочные работы</a:t>
            </a:r>
          </a:p>
          <a:p>
            <a:endParaRPr lang="ru-RU" sz="1600" dirty="0">
              <a:solidFill>
                <a:srgbClr val="333E49"/>
              </a:solidFill>
              <a:latin typeface="Roboto" panose="02000000000000000000" pitchFamily="2" charset="0"/>
            </a:endParaRPr>
          </a:p>
          <a:p>
            <a:pPr algn="just"/>
            <a:r>
              <a:rPr lang="ru-RU" sz="1600" dirty="0">
                <a:solidFill>
                  <a:srgbClr val="333E49"/>
                </a:solidFill>
                <a:latin typeface="Roboto" panose="02000000000000000000" pitchFamily="2" charset="0"/>
              </a:rPr>
              <a:t>Шаги по строительству дома можно легко перенести на график уже в таком виде. Или для каждого этапа составить подробный список задач. </a:t>
            </a:r>
          </a:p>
          <a:p>
            <a:pPr marL="0" indent="0" algn="l">
              <a:lnSpc>
                <a:spcPct val="100000"/>
              </a:lnSpc>
              <a:buNone/>
            </a:pPr>
            <a:r>
              <a:rPr lang="en-US" sz="1600" b="1" dirty="0">
                <a:solidFill>
                  <a:srgbClr val="1C3354"/>
                </a:solidFill>
                <a:latin typeface="Arial" pitchFamily="34" charset="0"/>
                <a:ea typeface="Arial" pitchFamily="34" charset="-122"/>
                <a:cs typeface="Arial" pitchFamily="34" charset="-120"/>
              </a:rPr>
              <a:t>
</a:t>
            </a:r>
            <a:r>
              <a:rPr lang="en-US" sz="1100" dirty="0">
                <a:solidFill>
                  <a:srgbClr val="1C3354"/>
                </a:solidFill>
                <a:latin typeface="Arial" pitchFamily="34" charset="0"/>
                <a:ea typeface="Arial" pitchFamily="34" charset="-122"/>
                <a:cs typeface="Arial" pitchFamily="34" charset="-120"/>
              </a:rPr>
              <a:t>
</a:t>
            </a:r>
            <a:endParaRPr lang="en-US" sz="1600" dirty="0"/>
          </a:p>
        </p:txBody>
      </p:sp>
    </p:spTree>
    <p:extLst>
      <p:ext uri="{BB962C8B-B14F-4D97-AF65-F5344CB8AC3E}">
        <p14:creationId xmlns:p14="http://schemas.microsoft.com/office/powerpoint/2010/main" val="1572002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A7323863-C2B3-4B1C-A33D-7CE51C9D2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182" y="431728"/>
            <a:ext cx="7937874" cy="4280043"/>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0" descr="preencoded.png"/>
          <p:cNvPicPr>
            <a:picLocks noChangeAspect="1"/>
          </p:cNvPicPr>
          <p:nvPr/>
        </p:nvPicPr>
        <p:blipFill>
          <a:blip r:embed="rId4"/>
          <a:stretch>
            <a:fillRect/>
          </a:stretch>
        </p:blipFill>
        <p:spPr>
          <a:xfrm>
            <a:off x="0" y="0"/>
            <a:ext cx="9144000" cy="5143500"/>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15</a:t>
            </a:r>
            <a:endParaRPr lang="en-US" sz="1200" dirty="0"/>
          </a:p>
        </p:txBody>
      </p:sp>
    </p:spTree>
    <p:extLst>
      <p:ext uri="{BB962C8B-B14F-4D97-AF65-F5344CB8AC3E}">
        <p14:creationId xmlns:p14="http://schemas.microsoft.com/office/powerpoint/2010/main" val="2698011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A7323863-C2B3-4B1C-A33D-7CE51C9D2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182" y="431728"/>
            <a:ext cx="7937874" cy="428004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9A495CE8-5F5E-4AF9-8156-D78DE9FE4A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175" y="291576"/>
            <a:ext cx="8197803" cy="4420195"/>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0" descr="preencoded.png"/>
          <p:cNvPicPr>
            <a:picLocks noChangeAspect="1"/>
          </p:cNvPicPr>
          <p:nvPr/>
        </p:nvPicPr>
        <p:blipFill>
          <a:blip r:embed="rId5"/>
          <a:stretch>
            <a:fillRect/>
          </a:stretch>
        </p:blipFill>
        <p:spPr>
          <a:xfrm>
            <a:off x="0" y="0"/>
            <a:ext cx="9144000" cy="5143500"/>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16</a:t>
            </a:r>
            <a:endParaRPr lang="en-US" sz="1200" dirty="0"/>
          </a:p>
        </p:txBody>
      </p:sp>
    </p:spTree>
    <p:extLst>
      <p:ext uri="{BB962C8B-B14F-4D97-AF65-F5344CB8AC3E}">
        <p14:creationId xmlns:p14="http://schemas.microsoft.com/office/powerpoint/2010/main" val="781449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17</a:t>
            </a:r>
            <a:endParaRPr lang="en-US" sz="1200" dirty="0"/>
          </a:p>
        </p:txBody>
      </p:sp>
      <p:pic>
        <p:nvPicPr>
          <p:cNvPr id="7" name="Image 0" descr="preencoded.png">
            <a:extLst>
              <a:ext uri="{FF2B5EF4-FFF2-40B4-BE49-F238E27FC236}">
                <a16:creationId xmlns:a16="http://schemas.microsoft.com/office/drawing/2014/main" id="{835574E2-79AD-4E8A-8C05-C7BF3D748D5D}"/>
              </a:ext>
            </a:extLst>
          </p:cNvPr>
          <p:cNvPicPr>
            <a:picLocks noChangeAspect="1"/>
          </p:cNvPicPr>
          <p:nvPr/>
        </p:nvPicPr>
        <p:blipFill>
          <a:blip r:embed="rId3"/>
          <a:stretch>
            <a:fillRect/>
          </a:stretch>
        </p:blipFill>
        <p:spPr>
          <a:xfrm>
            <a:off x="0" y="-626"/>
            <a:ext cx="9144000" cy="5143500"/>
          </a:xfrm>
          <a:prstGeom prst="rect">
            <a:avLst/>
          </a:prstGeom>
        </p:spPr>
      </p:pic>
      <p:sp>
        <p:nvSpPr>
          <p:cNvPr id="3" name="Прямоугольник 2">
            <a:extLst>
              <a:ext uri="{FF2B5EF4-FFF2-40B4-BE49-F238E27FC236}">
                <a16:creationId xmlns:a16="http://schemas.microsoft.com/office/drawing/2014/main" id="{9F624249-8967-4BD9-AB65-6C3E3A855188}"/>
              </a:ext>
            </a:extLst>
          </p:cNvPr>
          <p:cNvSpPr/>
          <p:nvPr/>
        </p:nvSpPr>
        <p:spPr>
          <a:xfrm>
            <a:off x="756549" y="419805"/>
            <a:ext cx="8283075" cy="4278094"/>
          </a:xfrm>
          <a:prstGeom prst="rect">
            <a:avLst/>
          </a:prstGeom>
        </p:spPr>
        <p:txBody>
          <a:bodyPr wrap="square">
            <a:spAutoFit/>
          </a:bodyPr>
          <a:lstStyle/>
          <a:p>
            <a:pPr algn="just"/>
            <a:r>
              <a:rPr lang="ru-RU" sz="1600" dirty="0">
                <a:solidFill>
                  <a:srgbClr val="333E49"/>
                </a:solidFill>
                <a:latin typeface="Roboto" panose="02000000000000000000" pitchFamily="2" charset="0"/>
              </a:rPr>
              <a:t>В нашем примере не получится начать строительство, пока мы не получим на него разрешение. Значит, от разрешения нужно провести зависимость к следующему этапу. </a:t>
            </a:r>
          </a:p>
          <a:p>
            <a:pPr algn="just"/>
            <a:endParaRPr lang="ru-RU" sz="1600" dirty="0">
              <a:solidFill>
                <a:srgbClr val="333E49"/>
              </a:solidFill>
              <a:latin typeface="Roboto" panose="02000000000000000000" pitchFamily="2" charset="0"/>
            </a:endParaRPr>
          </a:p>
          <a:p>
            <a:pPr algn="just"/>
            <a:r>
              <a:rPr lang="ru-RU" sz="1600" dirty="0">
                <a:solidFill>
                  <a:srgbClr val="333E49"/>
                </a:solidFill>
                <a:latin typeface="Roboto" panose="02000000000000000000" pitchFamily="2" charset="0"/>
              </a:rPr>
              <a:t>Это позволяет добиться представления о том, какие действия зависят от других. На листе бумаге добавить взаимосвязь легко: достаточно провести стрелку от одного действия к другому. </a:t>
            </a:r>
          </a:p>
          <a:p>
            <a:pPr algn="just"/>
            <a:endParaRPr lang="ru-RU" sz="1600" dirty="0">
              <a:solidFill>
                <a:srgbClr val="333E49"/>
              </a:solidFill>
              <a:latin typeface="Roboto" panose="02000000000000000000" pitchFamily="2" charset="0"/>
            </a:endParaRPr>
          </a:p>
          <a:p>
            <a:pPr algn="just"/>
            <a:r>
              <a:rPr lang="ru-RU" sz="1600" dirty="0">
                <a:solidFill>
                  <a:srgbClr val="333E49"/>
                </a:solidFill>
                <a:latin typeface="Roboto" panose="02000000000000000000" pitchFamily="2" charset="0"/>
              </a:rPr>
              <a:t>В онлайн-сервисах также есть специальная функция для обозначения взаимосвязей между задачами. Чтобы показать, что они зависят друг от друга, обычно нужно указать это в настройках задачи. </a:t>
            </a:r>
          </a:p>
          <a:p>
            <a:pPr algn="just"/>
            <a:endParaRPr lang="ru-RU" sz="1600" dirty="0">
              <a:solidFill>
                <a:srgbClr val="333E49"/>
              </a:solidFill>
              <a:latin typeface="Roboto" panose="02000000000000000000" pitchFamily="2" charset="0"/>
            </a:endParaRPr>
          </a:p>
          <a:p>
            <a:pPr algn="just"/>
            <a:r>
              <a:rPr lang="ru-RU" sz="1600" dirty="0">
                <a:solidFill>
                  <a:srgbClr val="333E49"/>
                </a:solidFill>
                <a:latin typeface="Roboto" panose="02000000000000000000" pitchFamily="2" charset="0"/>
              </a:rPr>
              <a:t>Но в таблицах сложно отобразить взаимосвязи. Поэтому если проект большой и в нем много зависимостей, для управления им лучше использовать онлайн-сервисы. </a:t>
            </a:r>
          </a:p>
          <a:p>
            <a:pPr algn="just"/>
            <a:endParaRPr lang="ru-RU" sz="1600" dirty="0">
              <a:solidFill>
                <a:srgbClr val="333E49"/>
              </a:solidFill>
              <a:latin typeface="Roboto" panose="02000000000000000000" pitchFamily="2" charset="0"/>
            </a:endParaRPr>
          </a:p>
          <a:p>
            <a:pPr algn="just"/>
            <a:r>
              <a:rPr lang="ru-RU" sz="1600" dirty="0">
                <a:solidFill>
                  <a:srgbClr val="333E49"/>
                </a:solidFill>
                <a:latin typeface="Roboto" panose="02000000000000000000" pitchFamily="2" charset="0"/>
              </a:rPr>
              <a:t>В </a:t>
            </a:r>
            <a:r>
              <a:rPr lang="ru-RU" sz="1600" dirty="0" err="1">
                <a:solidFill>
                  <a:srgbClr val="333E49"/>
                </a:solidFill>
                <a:latin typeface="Roboto" panose="02000000000000000000" pitchFamily="2" charset="0"/>
              </a:rPr>
              <a:t>Microsoft</a:t>
            </a:r>
            <a:r>
              <a:rPr lang="ru-RU" sz="1600" dirty="0">
                <a:solidFill>
                  <a:srgbClr val="333E49"/>
                </a:solidFill>
                <a:latin typeface="Roboto" panose="02000000000000000000" pitchFamily="2" charset="0"/>
              </a:rPr>
              <a:t> </a:t>
            </a:r>
            <a:r>
              <a:rPr lang="ru-RU" sz="1600" dirty="0" err="1">
                <a:solidFill>
                  <a:srgbClr val="333E49"/>
                </a:solidFill>
                <a:latin typeface="Roboto" panose="02000000000000000000" pitchFamily="2" charset="0"/>
              </a:rPr>
              <a:t>Project</a:t>
            </a:r>
            <a:r>
              <a:rPr lang="ru-RU" sz="1600" dirty="0">
                <a:solidFill>
                  <a:srgbClr val="333E49"/>
                </a:solidFill>
                <a:latin typeface="Roboto" panose="02000000000000000000" pitchFamily="2" charset="0"/>
              </a:rPr>
              <a:t>, </a:t>
            </a:r>
            <a:r>
              <a:rPr lang="ru-RU" sz="1600" dirty="0" err="1">
                <a:solidFill>
                  <a:srgbClr val="333E49"/>
                </a:solidFill>
                <a:latin typeface="Roboto" panose="02000000000000000000" pitchFamily="2" charset="0"/>
              </a:rPr>
              <a:t>Kaiten</a:t>
            </a:r>
            <a:r>
              <a:rPr lang="ru-RU" sz="1600" dirty="0">
                <a:solidFill>
                  <a:srgbClr val="333E49"/>
                </a:solidFill>
                <a:latin typeface="Roboto" panose="02000000000000000000" pitchFamily="2" charset="0"/>
              </a:rPr>
              <a:t>, </a:t>
            </a:r>
            <a:r>
              <a:rPr lang="ru-RU" sz="1600" dirty="0" err="1">
                <a:solidFill>
                  <a:srgbClr val="333E49"/>
                </a:solidFill>
                <a:latin typeface="Roboto" panose="02000000000000000000" pitchFamily="2" charset="0"/>
              </a:rPr>
              <a:t>Gantt</a:t>
            </a:r>
            <a:r>
              <a:rPr lang="ru-RU" sz="1600" dirty="0">
                <a:solidFill>
                  <a:srgbClr val="333E49"/>
                </a:solidFill>
                <a:latin typeface="Roboto" panose="02000000000000000000" pitchFamily="2" charset="0"/>
              </a:rPr>
              <a:t> </a:t>
            </a:r>
            <a:r>
              <a:rPr lang="ru-RU" sz="1600" dirty="0" err="1">
                <a:solidFill>
                  <a:srgbClr val="333E49"/>
                </a:solidFill>
                <a:latin typeface="Roboto" panose="02000000000000000000" pitchFamily="2" charset="0"/>
              </a:rPr>
              <a:t>Pro</a:t>
            </a:r>
            <a:r>
              <a:rPr lang="ru-RU" sz="1600" dirty="0">
                <a:solidFill>
                  <a:srgbClr val="333E49"/>
                </a:solidFill>
                <a:latin typeface="Roboto" panose="02000000000000000000" pitchFamily="2" charset="0"/>
              </a:rPr>
              <a:t>, </a:t>
            </a:r>
            <a:r>
              <a:rPr lang="ru-RU" sz="1600" dirty="0" err="1">
                <a:solidFill>
                  <a:srgbClr val="333E49"/>
                </a:solidFill>
                <a:latin typeface="Roboto" panose="02000000000000000000" pitchFamily="2" charset="0"/>
              </a:rPr>
              <a:t>Libreoffice</a:t>
            </a:r>
            <a:r>
              <a:rPr lang="ru-RU" sz="1600" dirty="0">
                <a:solidFill>
                  <a:srgbClr val="333E49"/>
                </a:solidFill>
                <a:latin typeface="Roboto" panose="02000000000000000000" pitchFamily="2" charset="0"/>
              </a:rPr>
              <a:t> </a:t>
            </a:r>
            <a:r>
              <a:rPr lang="ru-RU" sz="1600" dirty="0" err="1">
                <a:solidFill>
                  <a:srgbClr val="333E49"/>
                </a:solidFill>
                <a:latin typeface="Roboto" panose="02000000000000000000" pitchFamily="2" charset="0"/>
              </a:rPr>
              <a:t>Calc</a:t>
            </a:r>
            <a:r>
              <a:rPr lang="ru-RU" sz="1600" dirty="0">
                <a:solidFill>
                  <a:srgbClr val="333E49"/>
                </a:solidFill>
                <a:latin typeface="Roboto" panose="02000000000000000000" pitchFamily="2" charset="0"/>
              </a:rPr>
              <a:t> можно показывать взаимосвязи.</a:t>
            </a:r>
            <a:endParaRPr lang="ru-RU" sz="1600" dirty="0"/>
          </a:p>
        </p:txBody>
      </p:sp>
    </p:spTree>
    <p:extLst>
      <p:ext uri="{BB962C8B-B14F-4D97-AF65-F5344CB8AC3E}">
        <p14:creationId xmlns:p14="http://schemas.microsoft.com/office/powerpoint/2010/main" val="1321841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A7323863-C2B3-4B1C-A33D-7CE51C9D2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182" y="431728"/>
            <a:ext cx="7937874" cy="428004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9A495CE8-5F5E-4AF9-8156-D78DE9FE4A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175" y="291576"/>
            <a:ext cx="8197803" cy="442019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62DDF38C-90BA-4B7A-B4C2-4E51F9A678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674" y="277299"/>
            <a:ext cx="8136889" cy="4420195"/>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0" descr="preencoded.png"/>
          <p:cNvPicPr>
            <a:picLocks noChangeAspect="1"/>
          </p:cNvPicPr>
          <p:nvPr/>
        </p:nvPicPr>
        <p:blipFill>
          <a:blip r:embed="rId6"/>
          <a:stretch>
            <a:fillRect/>
          </a:stretch>
        </p:blipFill>
        <p:spPr>
          <a:xfrm>
            <a:off x="0" y="0"/>
            <a:ext cx="9144000" cy="5143500"/>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18</a:t>
            </a:r>
            <a:endParaRPr lang="en-US" sz="1200" dirty="0"/>
          </a:p>
        </p:txBody>
      </p:sp>
    </p:spTree>
    <p:extLst>
      <p:ext uri="{BB962C8B-B14F-4D97-AF65-F5344CB8AC3E}">
        <p14:creationId xmlns:p14="http://schemas.microsoft.com/office/powerpoint/2010/main" val="4275387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7" name="Image 0" descr="preencoded.png">
            <a:extLst>
              <a:ext uri="{FF2B5EF4-FFF2-40B4-BE49-F238E27FC236}">
                <a16:creationId xmlns:a16="http://schemas.microsoft.com/office/drawing/2014/main" id="{835574E2-79AD-4E8A-8C05-C7BF3D748D5D}"/>
              </a:ext>
            </a:extLst>
          </p:cNvPr>
          <p:cNvPicPr>
            <a:picLocks noChangeAspect="1"/>
          </p:cNvPicPr>
          <p:nvPr/>
        </p:nvPicPr>
        <p:blipFill>
          <a:blip r:embed="rId3"/>
          <a:stretch>
            <a:fillRect/>
          </a:stretch>
        </p:blipFill>
        <p:spPr>
          <a:xfrm>
            <a:off x="0" y="-626"/>
            <a:ext cx="9144000" cy="5143500"/>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ea typeface="Arial" pitchFamily="34" charset="-122"/>
                <a:cs typeface="Arial" pitchFamily="34" charset="-120"/>
              </a:rPr>
              <a:t>19</a:t>
            </a:r>
            <a:endParaRPr lang="en-US" sz="1200" dirty="0"/>
          </a:p>
        </p:txBody>
      </p:sp>
      <p:sp>
        <p:nvSpPr>
          <p:cNvPr id="3" name="Прямоугольник 2">
            <a:extLst>
              <a:ext uri="{FF2B5EF4-FFF2-40B4-BE49-F238E27FC236}">
                <a16:creationId xmlns:a16="http://schemas.microsoft.com/office/drawing/2014/main" id="{9F624249-8967-4BD9-AB65-6C3E3A855188}"/>
              </a:ext>
            </a:extLst>
          </p:cNvPr>
          <p:cNvSpPr/>
          <p:nvPr/>
        </p:nvSpPr>
        <p:spPr>
          <a:xfrm>
            <a:off x="756549" y="419805"/>
            <a:ext cx="8283075" cy="1569660"/>
          </a:xfrm>
          <a:prstGeom prst="rect">
            <a:avLst/>
          </a:prstGeom>
        </p:spPr>
        <p:txBody>
          <a:bodyPr wrap="square">
            <a:spAutoFit/>
          </a:bodyPr>
          <a:lstStyle/>
          <a:p>
            <a:pPr algn="just"/>
            <a:r>
              <a:rPr lang="ru-RU" sz="1600" dirty="0">
                <a:solidFill>
                  <a:srgbClr val="333E49"/>
                </a:solidFill>
                <a:latin typeface="Roboto" panose="02000000000000000000" pitchFamily="2" charset="0"/>
              </a:rPr>
              <a:t>В дальнейшем остается только обновлять данные, если будут происходить любые изменения на проекте. </a:t>
            </a:r>
          </a:p>
          <a:p>
            <a:pPr algn="just"/>
            <a:r>
              <a:rPr lang="ru-RU" sz="1600" dirty="0">
                <a:solidFill>
                  <a:srgbClr val="333E49"/>
                </a:solidFill>
                <a:latin typeface="Roboto" panose="02000000000000000000" pitchFamily="2" charset="0"/>
              </a:rPr>
              <a:t>В программах при изменении сроков продолжительность задач на графике меняется автоматически. В таблицах менять длительность нужно вручную. </a:t>
            </a:r>
          </a:p>
          <a:p>
            <a:pPr algn="just"/>
            <a:r>
              <a:rPr lang="ru-RU" sz="1600" dirty="0">
                <a:solidFill>
                  <a:srgbClr val="333E49"/>
                </a:solidFill>
                <a:latin typeface="Roboto" panose="02000000000000000000" pitchFamily="2" charset="0"/>
              </a:rPr>
              <a:t>Хотя если использовать инструмент «Диаграммы», длительность будет меняться автоматически.</a:t>
            </a:r>
            <a:endParaRPr lang="ru-RU" sz="1600" dirty="0"/>
          </a:p>
        </p:txBody>
      </p:sp>
      <p:pic>
        <p:nvPicPr>
          <p:cNvPr id="5" name="Picture 2">
            <a:extLst>
              <a:ext uri="{FF2B5EF4-FFF2-40B4-BE49-F238E27FC236}">
                <a16:creationId xmlns:a16="http://schemas.microsoft.com/office/drawing/2014/main" id="{2D842C9E-B5D8-4698-8F01-BE9856CEBF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549" y="1989465"/>
            <a:ext cx="6181413" cy="297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3499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6E9EF"/>
        </a:solidFill>
        <a:effectLst/>
      </p:bgPr>
    </p:bg>
    <p:spTree>
      <p:nvGrpSpPr>
        <p:cNvPr id="1" name=""/>
        <p:cNvGrpSpPr/>
        <p:nvPr/>
      </p:nvGrpSpPr>
      <p:grpSpPr>
        <a:xfrm>
          <a:off x="0" y="0"/>
          <a:ext cx="0" cy="0"/>
          <a:chOff x="0" y="0"/>
          <a:chExt cx="0" cy="0"/>
        </a:xfrm>
      </p:grpSpPr>
      <p:pic>
        <p:nvPicPr>
          <p:cNvPr id="7" name="Image 0" descr="preencoded.png">
            <a:extLst>
              <a:ext uri="{FF2B5EF4-FFF2-40B4-BE49-F238E27FC236}">
                <a16:creationId xmlns:a16="http://schemas.microsoft.com/office/drawing/2014/main" id="{835574E2-79AD-4E8A-8C05-C7BF3D748D5D}"/>
              </a:ext>
            </a:extLst>
          </p:cNvPr>
          <p:cNvPicPr>
            <a:picLocks noChangeAspect="1"/>
          </p:cNvPicPr>
          <p:nvPr/>
        </p:nvPicPr>
        <p:blipFill>
          <a:blip r:embed="rId3"/>
          <a:stretch>
            <a:fillRect/>
          </a:stretch>
        </p:blipFill>
        <p:spPr>
          <a:xfrm>
            <a:off x="0" y="-626"/>
            <a:ext cx="9144000" cy="5143500"/>
          </a:xfrm>
          <a:prstGeom prst="rect">
            <a:avLst/>
          </a:prstGeom>
        </p:spPr>
      </p:pic>
      <p:sp>
        <p:nvSpPr>
          <p:cNvPr id="4" name="Text 0"/>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ru-RU" sz="1200" b="1" dirty="0">
                <a:solidFill>
                  <a:srgbClr val="427697"/>
                </a:solidFill>
                <a:latin typeface="Arial" pitchFamily="34" charset="0"/>
                <a:cs typeface="Arial" pitchFamily="34" charset="-120"/>
              </a:rPr>
              <a:t>20</a:t>
            </a:r>
            <a:endParaRPr lang="en-US" sz="1200" dirty="0"/>
          </a:p>
        </p:txBody>
      </p:sp>
      <p:sp>
        <p:nvSpPr>
          <p:cNvPr id="3" name="Прямоугольник 2">
            <a:extLst>
              <a:ext uri="{FF2B5EF4-FFF2-40B4-BE49-F238E27FC236}">
                <a16:creationId xmlns:a16="http://schemas.microsoft.com/office/drawing/2014/main" id="{9F624249-8967-4BD9-AB65-6C3E3A855188}"/>
              </a:ext>
            </a:extLst>
          </p:cNvPr>
          <p:cNvSpPr/>
          <p:nvPr/>
        </p:nvSpPr>
        <p:spPr>
          <a:xfrm>
            <a:off x="705750" y="0"/>
            <a:ext cx="8283075" cy="4401205"/>
          </a:xfrm>
          <a:prstGeom prst="rect">
            <a:avLst/>
          </a:prstGeom>
        </p:spPr>
        <p:txBody>
          <a:bodyPr wrap="square">
            <a:spAutoFit/>
          </a:bodyPr>
          <a:lstStyle/>
          <a:p>
            <a:pPr algn="ctr"/>
            <a:r>
              <a:rPr lang="ru-RU" sz="1400" b="1" dirty="0">
                <a:solidFill>
                  <a:srgbClr val="333E49"/>
                </a:solidFill>
                <a:latin typeface="Roboto" panose="02000000000000000000" pitchFamily="2" charset="0"/>
              </a:rPr>
              <a:t>Как создать Диаграмму </a:t>
            </a:r>
            <a:r>
              <a:rPr lang="ru-RU" sz="1400" b="1" dirty="0" err="1">
                <a:solidFill>
                  <a:srgbClr val="333E49"/>
                </a:solidFill>
                <a:latin typeface="Roboto" panose="02000000000000000000" pitchFamily="2" charset="0"/>
              </a:rPr>
              <a:t>Ганта</a:t>
            </a:r>
            <a:r>
              <a:rPr lang="ru-RU" sz="1400" b="1" dirty="0">
                <a:solidFill>
                  <a:srgbClr val="333E49"/>
                </a:solidFill>
                <a:latin typeface="Roboto" panose="02000000000000000000" pitchFamily="2" charset="0"/>
              </a:rPr>
              <a:t> в </a:t>
            </a:r>
            <a:r>
              <a:rPr lang="ru-RU" sz="1400" b="1" dirty="0" err="1">
                <a:solidFill>
                  <a:srgbClr val="333E49"/>
                </a:solidFill>
                <a:latin typeface="Roboto" panose="02000000000000000000" pitchFamily="2" charset="0"/>
              </a:rPr>
              <a:t>Excel</a:t>
            </a:r>
            <a:r>
              <a:rPr lang="ru-RU" sz="1400" b="1" dirty="0">
                <a:solidFill>
                  <a:srgbClr val="333E49"/>
                </a:solidFill>
                <a:latin typeface="Roboto" panose="02000000000000000000" pitchFamily="2" charset="0"/>
              </a:rPr>
              <a:t>. </a:t>
            </a:r>
          </a:p>
          <a:p>
            <a:pPr algn="just"/>
            <a:endParaRPr lang="ru-RU" sz="1400" dirty="0">
              <a:solidFill>
                <a:srgbClr val="333E49"/>
              </a:solidFill>
              <a:latin typeface="Roboto" panose="02000000000000000000" pitchFamily="2" charset="0"/>
            </a:endParaRPr>
          </a:p>
          <a:p>
            <a:pPr algn="just">
              <a:buFont typeface="+mj-lt"/>
              <a:buAutoNum type="arabicPeriod"/>
            </a:pPr>
            <a:r>
              <a:rPr lang="ru-RU" sz="1400" b="1" dirty="0">
                <a:solidFill>
                  <a:srgbClr val="2D343C"/>
                </a:solidFill>
                <a:latin typeface="Roboto" panose="02000000000000000000" pitchFamily="2" charset="0"/>
              </a:rPr>
              <a:t>Добавьте данные.</a:t>
            </a:r>
            <a:r>
              <a:rPr lang="ru-RU" sz="1400" dirty="0">
                <a:solidFill>
                  <a:srgbClr val="2D343C"/>
                </a:solidFill>
                <a:latin typeface="Roboto" panose="02000000000000000000" pitchFamily="2" charset="0"/>
              </a:rPr>
              <a:t> Откройте </a:t>
            </a:r>
            <a:r>
              <a:rPr lang="ru-RU" sz="1400" dirty="0" err="1">
                <a:solidFill>
                  <a:srgbClr val="2D343C"/>
                </a:solidFill>
                <a:latin typeface="Roboto" panose="02000000000000000000" pitchFamily="2" charset="0"/>
              </a:rPr>
              <a:t>Excel</a:t>
            </a:r>
            <a:r>
              <a:rPr lang="ru-RU" sz="1400" dirty="0">
                <a:solidFill>
                  <a:srgbClr val="2D343C"/>
                </a:solidFill>
                <a:latin typeface="Roboto" panose="02000000000000000000" pitchFamily="2" charset="0"/>
              </a:rPr>
              <a:t> → выберите шаблон «Пустая книга» → укажите данные: в первом столбце — список действий, во втором столбце — дату начала, в третьем — длительность выполнения действия. Например, вы строите диаграмму для планирования выхода на </a:t>
            </a:r>
            <a:r>
              <a:rPr lang="ru-RU" sz="1400" dirty="0" err="1">
                <a:solidFill>
                  <a:srgbClr val="2D343C"/>
                </a:solidFill>
                <a:latin typeface="Roboto" panose="02000000000000000000" pitchFamily="2" charset="0"/>
              </a:rPr>
              <a:t>маркетплейс</a:t>
            </a:r>
            <a:r>
              <a:rPr lang="ru-RU" sz="1400" dirty="0">
                <a:solidFill>
                  <a:srgbClr val="2D343C"/>
                </a:solidFill>
                <a:latin typeface="Roboto" panose="02000000000000000000" pitchFamily="2" charset="0"/>
              </a:rPr>
              <a:t>. Пишем первое действие — «анализ </a:t>
            </a:r>
            <a:r>
              <a:rPr lang="ru-RU" sz="1400" dirty="0" err="1">
                <a:solidFill>
                  <a:srgbClr val="2D343C"/>
                </a:solidFill>
                <a:latin typeface="Roboto" panose="02000000000000000000" pitchFamily="2" charset="0"/>
              </a:rPr>
              <a:t>маркетплейсов</a:t>
            </a:r>
            <a:r>
              <a:rPr lang="ru-RU" sz="1400" dirty="0">
                <a:solidFill>
                  <a:srgbClr val="2D343C"/>
                </a:solidFill>
                <a:latin typeface="Roboto" panose="02000000000000000000" pitchFamily="2" charset="0"/>
              </a:rPr>
              <a:t>». Указываем дату начала — 0, длительность — 5 дней. Так пишем действия и ставим дату по каждой задаче.</a:t>
            </a:r>
          </a:p>
          <a:p>
            <a:pPr algn="just">
              <a:buFont typeface="+mj-lt"/>
              <a:buAutoNum type="arabicPeriod"/>
            </a:pPr>
            <a:r>
              <a:rPr lang="ru-RU" sz="1400" b="1" dirty="0">
                <a:solidFill>
                  <a:srgbClr val="2D343C"/>
                </a:solidFill>
                <a:latin typeface="Roboto" panose="02000000000000000000" pitchFamily="2" charset="0"/>
              </a:rPr>
              <a:t>Добавьте диаграмму. </a:t>
            </a:r>
            <a:r>
              <a:rPr lang="ru-RU" sz="1400" dirty="0">
                <a:solidFill>
                  <a:srgbClr val="2D343C"/>
                </a:solidFill>
                <a:latin typeface="Roboto" panose="02000000000000000000" pitchFamily="2" charset="0"/>
              </a:rPr>
              <a:t>Нужно преобразовать наши значения в линейчатую диаграмму. Сначала выделите диапазон ячеек — только данные, без названий столбцов → далее выберите вкладку «Вставка» → «Диаграммы» → среди всех гистограмм найдите линейчатую диаграмму с накоплением. </a:t>
            </a:r>
          </a:p>
          <a:p>
            <a:pPr algn="just">
              <a:buFont typeface="+mj-lt"/>
              <a:buAutoNum type="arabicPeriod"/>
            </a:pPr>
            <a:r>
              <a:rPr lang="ru-RU" sz="1400" b="1" dirty="0">
                <a:solidFill>
                  <a:srgbClr val="2D343C"/>
                </a:solidFill>
                <a:latin typeface="Roboto" panose="02000000000000000000" pitchFamily="2" charset="0"/>
              </a:rPr>
              <a:t>Преобразуйте диаграмму.</a:t>
            </a:r>
            <a:r>
              <a:rPr lang="ru-RU" sz="1400" dirty="0">
                <a:solidFill>
                  <a:srgbClr val="2D343C"/>
                </a:solidFill>
                <a:latin typeface="Roboto" panose="02000000000000000000" pitchFamily="2" charset="0"/>
              </a:rPr>
              <a:t> Пока на графике непонятная визуальная последовательность действий. Это можно исправить, оставив только отображение длительности действий. Нажмите правой кнопкой мыши по одному из рядов данных, который отображает значение даты начала (по умолчанию будет выделен голубым цветом) → выберите функцию «Формат ряда данных» → найдите вкладку «Заливка и границы». Теперь удалите заливку и границы. Сейчас диаграмма показывает все, что необходимо, но ее можно улучшить.</a:t>
            </a:r>
          </a:p>
          <a:p>
            <a:pPr algn="just">
              <a:buFont typeface="+mj-lt"/>
              <a:buAutoNum type="arabicPeriod"/>
            </a:pPr>
            <a:r>
              <a:rPr lang="ru-RU" sz="1400" b="1" dirty="0">
                <a:solidFill>
                  <a:srgbClr val="2D343C"/>
                </a:solidFill>
                <a:latin typeface="Roboto" panose="02000000000000000000" pitchFamily="2" charset="0"/>
              </a:rPr>
              <a:t>Сделайте удобный формат. </a:t>
            </a:r>
            <a:r>
              <a:rPr lang="ru-RU" sz="1400" dirty="0">
                <a:solidFill>
                  <a:srgbClr val="2D343C"/>
                </a:solidFill>
                <a:latin typeface="Roboto" panose="02000000000000000000" pitchFamily="2" charset="0"/>
              </a:rPr>
              <a:t>Пока действия находятся в неправильной последовательности, то есть от последнего к первому. Нужно изменить порядок. Нажмите правой кнопкой рядом со списком действий → «Формат оси» → поставьте галочку напротив поля «Обратный порядок».</a:t>
            </a:r>
          </a:p>
        </p:txBody>
      </p:sp>
    </p:spTree>
    <p:extLst>
      <p:ext uri="{BB962C8B-B14F-4D97-AF65-F5344CB8AC3E}">
        <p14:creationId xmlns:p14="http://schemas.microsoft.com/office/powerpoint/2010/main" val="692757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pic>
        <p:nvPicPr>
          <p:cNvPr id="4" name="Image 2" descr="preencoded.png"/>
          <p:cNvPicPr>
            <a:picLocks noChangeAspect="1"/>
          </p:cNvPicPr>
          <p:nvPr/>
        </p:nvPicPr>
        <p:blipFill>
          <a:blip r:embed="rId5"/>
          <a:stretch>
            <a:fillRect/>
          </a:stretch>
        </p:blipFill>
        <p:spPr>
          <a:xfrm>
            <a:off x="0" y="0"/>
            <a:ext cx="9144000" cy="5143500"/>
          </a:xfrm>
          <a:prstGeom prst="rect">
            <a:avLst/>
          </a:prstGeom>
        </p:spPr>
      </p:pic>
      <p:sp>
        <p:nvSpPr>
          <p:cNvPr id="5" name="Text 0"/>
          <p:cNvSpPr txBox="1"/>
          <p:nvPr/>
        </p:nvSpPr>
        <p:spPr>
          <a:xfrm>
            <a:off x="241950" y="580350"/>
            <a:ext cx="8486400" cy="1202100"/>
          </a:xfrm>
          <a:prstGeom prst="rect">
            <a:avLst/>
          </a:prstGeom>
          <a:noFill/>
          <a:ln/>
        </p:spPr>
        <p:txBody>
          <a:bodyPr wrap="square" lIns="0" tIns="0" rIns="0" bIns="0" rtlCol="0" anchor="b"/>
          <a:lstStyle/>
          <a:p>
            <a:pPr marL="0" indent="0" algn="ctr">
              <a:lnSpc>
                <a:spcPct val="100000"/>
              </a:lnSpc>
              <a:buNone/>
            </a:pPr>
            <a:r>
              <a:rPr lang="en-US" sz="2500" b="1" dirty="0">
                <a:solidFill>
                  <a:srgbClr val="1C3354"/>
                </a:solidFill>
                <a:latin typeface="Arial" pitchFamily="34" charset="0"/>
                <a:ea typeface="Arial" pitchFamily="34" charset="-122"/>
                <a:cs typeface="Arial" pitchFamily="34" charset="-120"/>
              </a:rPr>
              <a:t>Понятие ресурсов проекта
</a:t>
            </a:r>
            <a:endParaRPr lang="en-US" sz="2500" dirty="0"/>
          </a:p>
        </p:txBody>
      </p:sp>
      <p:sp>
        <p:nvSpPr>
          <p:cNvPr id="6" name="Text 1"/>
          <p:cNvSpPr txBox="1"/>
          <p:nvPr/>
        </p:nvSpPr>
        <p:spPr>
          <a:xfrm>
            <a:off x="200250" y="2383325"/>
            <a:ext cx="2690400" cy="1790100"/>
          </a:xfrm>
          <a:prstGeom prst="rect">
            <a:avLst/>
          </a:prstGeom>
          <a:noFill/>
          <a:ln/>
        </p:spPr>
        <p:txBody>
          <a:bodyPr wrap="square" lIns="0" tIns="0" rIns="0" bIns="0" rtlCol="0" anchor="t"/>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Ресурсы — это совокупность всех средств, необходимых для реализации проекта, включая труд, материалы, финансы и информацию.
</a:t>
            </a:r>
            <a:endParaRPr lang="en-US" sz="1200" dirty="0"/>
          </a:p>
        </p:txBody>
      </p:sp>
      <p:sp>
        <p:nvSpPr>
          <p:cNvPr id="7" name="Text 2"/>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21</a:t>
            </a:r>
            <a:endParaRPr lang="en-US" sz="1200" dirty="0"/>
          </a:p>
        </p:txBody>
      </p:sp>
      <p:sp>
        <p:nvSpPr>
          <p:cNvPr id="8" name="Text 3"/>
          <p:cNvSpPr txBox="1"/>
          <p:nvPr/>
        </p:nvSpPr>
        <p:spPr>
          <a:xfrm>
            <a:off x="3226800" y="2383325"/>
            <a:ext cx="2690400" cy="1790100"/>
          </a:xfrm>
          <a:prstGeom prst="rect">
            <a:avLst/>
          </a:prstGeom>
          <a:noFill/>
          <a:ln/>
        </p:spPr>
        <p:txBody>
          <a:bodyPr wrap="square" lIns="0" tIns="0" rIns="0" bIns="0" rtlCol="0" anchor="t"/>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Людские ресурсы представляют квалифицированных специалистов и рабочую силу, обеспечивая выполнение задач в срок и с нужным качеством.
</a:t>
            </a:r>
            <a:endParaRPr lang="en-US" sz="1200" dirty="0"/>
          </a:p>
        </p:txBody>
      </p:sp>
      <p:sp>
        <p:nvSpPr>
          <p:cNvPr id="9" name="Text 4"/>
          <p:cNvSpPr txBox="1"/>
          <p:nvPr/>
        </p:nvSpPr>
        <p:spPr>
          <a:xfrm>
            <a:off x="6253350" y="2383325"/>
            <a:ext cx="2690400" cy="1790100"/>
          </a:xfrm>
          <a:prstGeom prst="rect">
            <a:avLst/>
          </a:prstGeom>
          <a:noFill/>
          <a:ln/>
        </p:spPr>
        <p:txBody>
          <a:bodyPr wrap="square" lIns="0" tIns="0" rIns="0" bIns="0" rtlCol="0" anchor="t"/>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Материальные и финансовые ресурсы обеспечивают технические и экономические условия для успешного завершения проекта.
</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
        <p:nvSpPr>
          <p:cNvPr id="4" name="Text 0"/>
          <p:cNvSpPr txBox="1"/>
          <p:nvPr/>
        </p:nvSpPr>
        <p:spPr>
          <a:xfrm>
            <a:off x="371525" y="298825"/>
            <a:ext cx="8377800" cy="991800"/>
          </a:xfrm>
          <a:prstGeom prst="rect">
            <a:avLst/>
          </a:prstGeom>
          <a:noFill/>
          <a:ln/>
        </p:spPr>
        <p:txBody>
          <a:bodyPr wrap="square" lIns="0" tIns="0" rIns="0" bIns="0" rtlCol="0" anchor="ctr"/>
          <a:lstStyle/>
          <a:p>
            <a:pPr marL="0" indent="0" algn="ctr">
              <a:lnSpc>
                <a:spcPct val="100000"/>
              </a:lnSpc>
              <a:buNone/>
            </a:pPr>
            <a:r>
              <a:rPr lang="en-US" sz="2500" b="1" dirty="0">
                <a:solidFill>
                  <a:srgbClr val="1C3354"/>
                </a:solidFill>
                <a:latin typeface="Arial" pitchFamily="34" charset="0"/>
                <a:ea typeface="Arial" pitchFamily="34" charset="-122"/>
                <a:cs typeface="Arial" pitchFamily="34" charset="-120"/>
              </a:rPr>
              <a:t>Виды ресурсов проекта
</a:t>
            </a:r>
            <a:endParaRPr lang="en-US" sz="2500" dirty="0"/>
          </a:p>
        </p:txBody>
      </p:sp>
      <p:sp>
        <p:nvSpPr>
          <p:cNvPr id="5" name="Text 1"/>
          <p:cNvSpPr txBox="1"/>
          <p:nvPr/>
        </p:nvSpPr>
        <p:spPr>
          <a:xfrm>
            <a:off x="762575" y="3435000"/>
            <a:ext cx="3453600" cy="1215900"/>
          </a:xfrm>
          <a:prstGeom prst="rect">
            <a:avLst/>
          </a:prstGeom>
          <a:noFill/>
          <a:ln/>
        </p:spPr>
        <p:txBody>
          <a:bodyPr wrap="square" lIns="0" tIns="0" rIns="0" bIns="0" rtlCol="0" anchor="ctr"/>
          <a:lstStyle/>
          <a:p>
            <a:pPr marL="0" indent="0" algn="l">
              <a:lnSpc>
                <a:spcPct val="115000"/>
              </a:lnSpc>
              <a:buNone/>
            </a:pPr>
            <a:r>
              <a:rPr lang="en-US" sz="1200" b="1" dirty="0">
                <a:solidFill>
                  <a:srgbClr val="1C3354"/>
                </a:solidFill>
                <a:latin typeface="Arial" pitchFamily="34" charset="0"/>
                <a:ea typeface="Arial" pitchFamily="34" charset="-122"/>
                <a:cs typeface="Arial" pitchFamily="34" charset="-120"/>
              </a:rPr>
              <a:t>Финансовые ресурсы </a:t>
            </a:r>
            <a:r>
              <a:rPr lang="en-US" sz="1200" dirty="0">
                <a:solidFill>
                  <a:srgbClr val="1C3354"/>
                </a:solidFill>
                <a:latin typeface="Arial" pitchFamily="34" charset="0"/>
                <a:ea typeface="Arial" pitchFamily="34" charset="-122"/>
                <a:cs typeface="Arial" pitchFamily="34" charset="-120"/>
              </a:rPr>
              <a:t>представляют бюджет, инвестиции и прочие денежные средства, обеспечивающие оплату затрат.
</a:t>
            </a:r>
            <a:endParaRPr lang="en-US" sz="1200" dirty="0"/>
          </a:p>
        </p:txBody>
      </p:sp>
      <p:sp>
        <p:nvSpPr>
          <p:cNvPr id="6" name="Text 2"/>
          <p:cNvSpPr txBox="1"/>
          <p:nvPr/>
        </p:nvSpPr>
        <p:spPr>
          <a:xfrm>
            <a:off x="762650" y="1724875"/>
            <a:ext cx="3453600" cy="1215900"/>
          </a:xfrm>
          <a:prstGeom prst="rect">
            <a:avLst/>
          </a:prstGeom>
          <a:noFill/>
          <a:ln/>
        </p:spPr>
        <p:txBody>
          <a:bodyPr wrap="square" lIns="0" tIns="0" rIns="0" bIns="0" rtlCol="0" anchor="ctr"/>
          <a:lstStyle/>
          <a:p>
            <a:pPr marL="0" indent="0" algn="l">
              <a:lnSpc>
                <a:spcPct val="115000"/>
              </a:lnSpc>
              <a:buNone/>
            </a:pPr>
            <a:r>
              <a:rPr lang="en-US" sz="1200" b="1" dirty="0">
                <a:solidFill>
                  <a:srgbClr val="1C3354"/>
                </a:solidFill>
                <a:latin typeface="Arial" pitchFamily="34" charset="0"/>
                <a:ea typeface="Arial" pitchFamily="34" charset="-122"/>
                <a:cs typeface="Arial" pitchFamily="34" charset="-120"/>
              </a:rPr>
              <a:t>Трудовые ресурсы </a:t>
            </a:r>
            <a:r>
              <a:rPr lang="en-US" sz="1200" dirty="0">
                <a:solidFill>
                  <a:srgbClr val="1C3354"/>
                </a:solidFill>
                <a:latin typeface="Arial" pitchFamily="34" charset="0"/>
                <a:ea typeface="Arial" pitchFamily="34" charset="-122"/>
                <a:cs typeface="Arial" pitchFamily="34" charset="-120"/>
              </a:rPr>
              <a:t>включают квалификацию, количественный состав и время работы персонала, определяя возможности реализации задач.
</a:t>
            </a:r>
            <a:endParaRPr lang="en-US" sz="1200" dirty="0"/>
          </a:p>
        </p:txBody>
      </p:sp>
      <p:sp>
        <p:nvSpPr>
          <p:cNvPr id="7" name="Text 3"/>
          <p:cNvSpPr txBox="1"/>
          <p:nvPr/>
        </p:nvSpPr>
        <p:spPr>
          <a:xfrm>
            <a:off x="5161675" y="1724825"/>
            <a:ext cx="3453600" cy="1215900"/>
          </a:xfrm>
          <a:prstGeom prst="rect">
            <a:avLst/>
          </a:prstGeom>
          <a:noFill/>
          <a:ln/>
        </p:spPr>
        <p:txBody>
          <a:bodyPr wrap="square" lIns="0" tIns="0" rIns="0" bIns="0" rtlCol="0" anchor="ctr"/>
          <a:lstStyle/>
          <a:p>
            <a:pPr marL="0" indent="0" algn="l">
              <a:lnSpc>
                <a:spcPct val="115000"/>
              </a:lnSpc>
              <a:buNone/>
            </a:pPr>
            <a:r>
              <a:rPr lang="en-US" sz="1200" b="1" dirty="0">
                <a:solidFill>
                  <a:srgbClr val="1C3354"/>
                </a:solidFill>
                <a:latin typeface="Arial" pitchFamily="34" charset="0"/>
                <a:ea typeface="Arial" pitchFamily="34" charset="-122"/>
                <a:cs typeface="Arial" pitchFamily="34" charset="-120"/>
              </a:rPr>
              <a:t>Материальные ресурсы </a:t>
            </a:r>
            <a:r>
              <a:rPr lang="en-US" sz="1200" dirty="0">
                <a:solidFill>
                  <a:srgbClr val="1C3354"/>
                </a:solidFill>
                <a:latin typeface="Arial" pitchFamily="34" charset="0"/>
                <a:ea typeface="Arial" pitchFamily="34" charset="-122"/>
                <a:cs typeface="Arial" pitchFamily="34" charset="-120"/>
              </a:rPr>
              <a:t>охватывают сырьё, комплектующие и оборудование, необходимые для производства и выполнения работ.
</a:t>
            </a:r>
            <a:endParaRPr lang="en-US" sz="1200" dirty="0"/>
          </a:p>
        </p:txBody>
      </p:sp>
      <p:sp>
        <p:nvSpPr>
          <p:cNvPr id="8" name="Text 4"/>
          <p:cNvSpPr txBox="1"/>
          <p:nvPr/>
        </p:nvSpPr>
        <p:spPr>
          <a:xfrm>
            <a:off x="5153750" y="3435000"/>
            <a:ext cx="3453600" cy="1215900"/>
          </a:xfrm>
          <a:prstGeom prst="rect">
            <a:avLst/>
          </a:prstGeom>
          <a:noFill/>
          <a:ln/>
        </p:spPr>
        <p:txBody>
          <a:bodyPr wrap="square" lIns="0" tIns="0" rIns="0" bIns="0" rtlCol="0" anchor="ctr"/>
          <a:lstStyle/>
          <a:p>
            <a:pPr marL="0" indent="0" algn="l">
              <a:lnSpc>
                <a:spcPct val="115000"/>
              </a:lnSpc>
              <a:buNone/>
            </a:pPr>
            <a:r>
              <a:rPr lang="en-US" sz="1200" b="1" dirty="0">
                <a:solidFill>
                  <a:srgbClr val="1C3354"/>
                </a:solidFill>
                <a:latin typeface="Arial" pitchFamily="34" charset="0"/>
                <a:ea typeface="Arial" pitchFamily="34" charset="-122"/>
                <a:cs typeface="Arial" pitchFamily="34" charset="-120"/>
              </a:rPr>
              <a:t>Информационные ресурсы </a:t>
            </a:r>
            <a:r>
              <a:rPr lang="en-US" sz="1200" dirty="0">
                <a:solidFill>
                  <a:srgbClr val="1C3354"/>
                </a:solidFill>
                <a:latin typeface="Arial" pitchFamily="34" charset="0"/>
                <a:ea typeface="Arial" pitchFamily="34" charset="-122"/>
                <a:cs typeface="Arial" pitchFamily="34" charset="-120"/>
              </a:rPr>
              <a:t>— данные, технологии и знания, которые поддерживают управление проектом и принятие решений.
</a:t>
            </a:r>
            <a:endParaRPr lang="en-US" sz="1200" dirty="0"/>
          </a:p>
        </p:txBody>
      </p:sp>
      <p:sp>
        <p:nvSpPr>
          <p:cNvPr id="9" name="Text 5"/>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
        <p:nvSpPr>
          <p:cNvPr id="4" name="Text 0"/>
          <p:cNvSpPr txBox="1"/>
          <p:nvPr/>
        </p:nvSpPr>
        <p:spPr>
          <a:xfrm>
            <a:off x="720000" y="254325"/>
            <a:ext cx="7704000" cy="851700"/>
          </a:xfrm>
          <a:prstGeom prst="rect">
            <a:avLst/>
          </a:prstGeom>
          <a:noFill/>
          <a:ln/>
        </p:spPr>
        <p:txBody>
          <a:bodyPr wrap="square" lIns="0" tIns="0" rIns="0" bIns="0" rtlCol="0" anchor="t"/>
          <a:lstStyle/>
          <a:p>
            <a:pPr marL="0" indent="0" algn="ctr">
              <a:lnSpc>
                <a:spcPct val="100000"/>
              </a:lnSpc>
              <a:buNone/>
            </a:pPr>
            <a:r>
              <a:rPr lang="en-US" sz="2500" b="1" dirty="0">
                <a:solidFill>
                  <a:srgbClr val="1C3354"/>
                </a:solidFill>
                <a:latin typeface="Arial" pitchFamily="34" charset="0"/>
                <a:ea typeface="Arial" pitchFamily="34" charset="-122"/>
                <a:cs typeface="Arial" pitchFamily="34" charset="-120"/>
              </a:rPr>
              <a:t>Методы оценки потребности в ресурсах
</a:t>
            </a:r>
            <a:endParaRPr lang="en-US" sz="2500" dirty="0"/>
          </a:p>
        </p:txBody>
      </p:sp>
      <p:sp>
        <p:nvSpPr>
          <p:cNvPr id="5" name="Text 1"/>
          <p:cNvSpPr txBox="1"/>
          <p:nvPr/>
        </p:nvSpPr>
        <p:spPr>
          <a:xfrm>
            <a:off x="1779225" y="3535375"/>
            <a:ext cx="2876700" cy="1496100"/>
          </a:xfrm>
          <a:prstGeom prst="rect">
            <a:avLst/>
          </a:prstGeom>
          <a:noFill/>
          <a:ln/>
        </p:spPr>
        <p:txBody>
          <a:bodyPr wrap="square" lIns="0" tIns="0" rIns="0" bIns="0" rtlCol="0" anchor="t"/>
          <a:lstStyle/>
          <a:p>
            <a:pPr marL="0" indent="0" algn="l">
              <a:lnSpc>
                <a:spcPct val="115000"/>
              </a:lnSpc>
              <a:buNone/>
            </a:pPr>
            <a:r>
              <a:rPr lang="en-US" sz="1300" dirty="0">
                <a:solidFill>
                  <a:srgbClr val="1C3354"/>
                </a:solidFill>
                <a:latin typeface="Arial" pitchFamily="34" charset="0"/>
                <a:ea typeface="Arial" pitchFamily="34" charset="-122"/>
                <a:cs typeface="Arial" pitchFamily="34" charset="-120"/>
              </a:rPr>
              <a:t>Анализ графиков выполнения помогает выявлять пиковые нагрузки и корректировать запасы, что минимизирует риск дефицита ресурсов.
</a:t>
            </a:r>
            <a:endParaRPr lang="en-US" sz="1300" dirty="0"/>
          </a:p>
        </p:txBody>
      </p:sp>
      <p:sp>
        <p:nvSpPr>
          <p:cNvPr id="6" name="Text 2"/>
          <p:cNvSpPr txBox="1"/>
          <p:nvPr/>
        </p:nvSpPr>
        <p:spPr>
          <a:xfrm>
            <a:off x="1779225" y="1740575"/>
            <a:ext cx="2876700" cy="1496100"/>
          </a:xfrm>
          <a:prstGeom prst="rect">
            <a:avLst/>
          </a:prstGeom>
          <a:noFill/>
          <a:ln/>
        </p:spPr>
        <p:txBody>
          <a:bodyPr wrap="square" lIns="0" tIns="0" rIns="0" bIns="0" rtlCol="0" anchor="t"/>
          <a:lstStyle/>
          <a:p>
            <a:pPr marL="0" indent="0" algn="l">
              <a:lnSpc>
                <a:spcPct val="115000"/>
              </a:lnSpc>
              <a:buNone/>
            </a:pPr>
            <a:r>
              <a:rPr lang="en-US" sz="1300" dirty="0">
                <a:solidFill>
                  <a:srgbClr val="1C3354"/>
                </a:solidFill>
                <a:latin typeface="Arial" pitchFamily="34" charset="0"/>
                <a:ea typeface="Arial" pitchFamily="34" charset="-122"/>
                <a:cs typeface="Arial" pitchFamily="34" charset="-120"/>
              </a:rPr>
              <a:t>Определение потребности начинается с анализа рабочих пакетов и этапов проекта с расчетом требуемых норм времени и расхода материалов.
</a:t>
            </a:r>
            <a:endParaRPr lang="en-US" sz="1300" dirty="0"/>
          </a:p>
        </p:txBody>
      </p:sp>
      <p:sp>
        <p:nvSpPr>
          <p:cNvPr id="7" name="Text 3"/>
          <p:cNvSpPr txBox="1"/>
          <p:nvPr/>
        </p:nvSpPr>
        <p:spPr>
          <a:xfrm>
            <a:off x="6013325" y="1711000"/>
            <a:ext cx="2876700" cy="1496100"/>
          </a:xfrm>
          <a:prstGeom prst="rect">
            <a:avLst/>
          </a:prstGeom>
          <a:noFill/>
          <a:ln/>
        </p:spPr>
        <p:txBody>
          <a:bodyPr wrap="square" lIns="0" tIns="0" rIns="0" bIns="0" rtlCol="0" anchor="t"/>
          <a:lstStyle/>
          <a:p>
            <a:pPr marL="0" indent="0" algn="l">
              <a:lnSpc>
                <a:spcPct val="115000"/>
              </a:lnSpc>
              <a:buNone/>
            </a:pPr>
            <a:r>
              <a:rPr lang="en-US" sz="1300" dirty="0">
                <a:solidFill>
                  <a:srgbClr val="1C3354"/>
                </a:solidFill>
                <a:latin typeface="Arial" pitchFamily="34" charset="0"/>
                <a:ea typeface="Arial" pitchFamily="34" charset="-122"/>
                <a:cs typeface="Arial" pitchFamily="34" charset="-120"/>
              </a:rPr>
              <a:t>Использование нормативов и стандартных величин позволяет точно оценить необходимое количество различных ресурсов на каждом этапе реализации.
</a:t>
            </a:r>
            <a:endParaRPr lang="en-US" sz="1300" dirty="0"/>
          </a:p>
        </p:txBody>
      </p:sp>
      <p:sp>
        <p:nvSpPr>
          <p:cNvPr id="8" name="Text 4"/>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202402" y="3992789"/>
            <a:ext cx="5113200" cy="706200"/>
          </a:xfrm>
          <a:prstGeom prst="rect">
            <a:avLst/>
          </a:prstGeom>
          <a:noFill/>
          <a:ln/>
        </p:spPr>
        <p:txBody>
          <a:bodyPr wrap="square" lIns="0" tIns="0" rIns="0" bIns="0" rtlCol="0" anchor="ctr"/>
          <a:lstStyle/>
          <a:p>
            <a:pPr marL="0" indent="0" algn="l">
              <a:lnSpc>
                <a:spcPct val="115000"/>
              </a:lnSpc>
              <a:buNone/>
            </a:pPr>
            <a:r>
              <a:rPr lang="en-US" sz="1200" dirty="0">
                <a:solidFill>
                  <a:srgbClr val="000000"/>
                </a:solidFill>
                <a:latin typeface="Arial" pitchFamily="34" charset="0"/>
                <a:ea typeface="Arial" pitchFamily="34" charset="-122"/>
                <a:cs typeface="Arial" pitchFamily="34" charset="-120"/>
              </a:rPr>
              <a:t>Метод аналогий применяют для сопоставления с прошлыми проектами, учитывая особенности текущего, что повышает точность прогнозов.
</a:t>
            </a:r>
            <a:endParaRPr lang="en-US" sz="1200" dirty="0"/>
          </a:p>
        </p:txBody>
      </p:sp>
      <p:sp>
        <p:nvSpPr>
          <p:cNvPr id="4" name="Text 1"/>
          <p:cNvSpPr txBox="1"/>
          <p:nvPr/>
        </p:nvSpPr>
        <p:spPr>
          <a:xfrm>
            <a:off x="3378629" y="3166331"/>
            <a:ext cx="5113200" cy="706200"/>
          </a:xfrm>
          <a:prstGeom prst="rect">
            <a:avLst/>
          </a:prstGeom>
          <a:noFill/>
          <a:ln/>
        </p:spPr>
        <p:txBody>
          <a:bodyPr wrap="square" lIns="0" tIns="0" rIns="0" bIns="0" rtlCol="0" anchor="ctr"/>
          <a:lstStyle/>
          <a:p>
            <a:pPr marL="0" indent="0" algn="l">
              <a:lnSpc>
                <a:spcPct val="115000"/>
              </a:lnSpc>
              <a:buNone/>
            </a:pPr>
            <a:r>
              <a:rPr lang="en-US" sz="1200" dirty="0">
                <a:solidFill>
                  <a:srgbClr val="000000"/>
                </a:solidFill>
                <a:latin typeface="Arial" pitchFamily="34" charset="0"/>
                <a:ea typeface="Arial" pitchFamily="34" charset="-122"/>
                <a:cs typeface="Arial" pitchFamily="34" charset="-120"/>
              </a:rPr>
              <a:t>Нормативный подход использует стандарты расходов, позволяет быстро оценить проект при наличии четких нормативов.
</a:t>
            </a:r>
            <a:endParaRPr lang="en-US" sz="1200" dirty="0"/>
          </a:p>
        </p:txBody>
      </p:sp>
      <p:sp>
        <p:nvSpPr>
          <p:cNvPr id="5" name="Text 2"/>
          <p:cNvSpPr txBox="1"/>
          <p:nvPr/>
        </p:nvSpPr>
        <p:spPr>
          <a:xfrm>
            <a:off x="3554662" y="2391473"/>
            <a:ext cx="5113200" cy="654600"/>
          </a:xfrm>
          <a:prstGeom prst="rect">
            <a:avLst/>
          </a:prstGeom>
          <a:noFill/>
          <a:ln/>
        </p:spPr>
        <p:txBody>
          <a:bodyPr wrap="square" lIns="0" tIns="0" rIns="0" bIns="0" rtlCol="0" anchor="ctr"/>
          <a:lstStyle/>
          <a:p>
            <a:pPr marL="0" indent="0" algn="l">
              <a:lnSpc>
                <a:spcPct val="115000"/>
              </a:lnSpc>
              <a:buNone/>
            </a:pPr>
            <a:r>
              <a:rPr lang="en-US" sz="1200" dirty="0">
                <a:solidFill>
                  <a:srgbClr val="000000"/>
                </a:solidFill>
                <a:latin typeface="Arial" pitchFamily="34" charset="0"/>
                <a:ea typeface="Arial" pitchFamily="34" charset="-122"/>
                <a:cs typeface="Arial" pitchFamily="34" charset="-120"/>
              </a:rPr>
              <a:t>Калькуляция издержек подразумевает детальный подсчет всех прямых и косвенных затрат, включая материалы, труд и накладные расходы.
</a:t>
            </a:r>
            <a:endParaRPr lang="en-US" sz="1200" dirty="0"/>
          </a:p>
        </p:txBody>
      </p:sp>
      <p:sp>
        <p:nvSpPr>
          <p:cNvPr id="6" name="Text 3"/>
          <p:cNvSpPr txBox="1"/>
          <p:nvPr/>
        </p:nvSpPr>
        <p:spPr>
          <a:xfrm>
            <a:off x="3699877" y="1616615"/>
            <a:ext cx="5113200" cy="654600"/>
          </a:xfrm>
          <a:prstGeom prst="rect">
            <a:avLst/>
          </a:prstGeom>
          <a:noFill/>
          <a:ln/>
        </p:spPr>
        <p:txBody>
          <a:bodyPr wrap="square" lIns="0" tIns="0" rIns="0" bIns="0" rtlCol="0" anchor="ctr"/>
          <a:lstStyle/>
          <a:p>
            <a:pPr marL="0" indent="0" algn="l">
              <a:lnSpc>
                <a:spcPct val="115000"/>
              </a:lnSpc>
              <a:buNone/>
            </a:pPr>
            <a:r>
              <a:rPr lang="en-US" sz="1200" dirty="0">
                <a:solidFill>
                  <a:srgbClr val="000000"/>
                </a:solidFill>
                <a:latin typeface="Arial" pitchFamily="34" charset="0"/>
                <a:ea typeface="Arial" pitchFamily="34" charset="-122"/>
                <a:cs typeface="Arial" pitchFamily="34" charset="-120"/>
              </a:rPr>
              <a:t>Экспертная оценка основана на опыте специалистов и аналитике сходных проектов, что обеспечивает ориентировочную точность бюджета.
</a:t>
            </a:r>
            <a:endParaRPr lang="en-US" sz="1200" dirty="0"/>
          </a:p>
        </p:txBody>
      </p:sp>
      <p:sp>
        <p:nvSpPr>
          <p:cNvPr id="7" name="Text 4"/>
          <p:cNvSpPr txBox="1"/>
          <p:nvPr/>
        </p:nvSpPr>
        <p:spPr>
          <a:xfrm>
            <a:off x="397250" y="573425"/>
            <a:ext cx="8334300" cy="519600"/>
          </a:xfrm>
          <a:prstGeom prst="rect">
            <a:avLst/>
          </a:prstGeom>
          <a:noFill/>
          <a:ln/>
        </p:spPr>
        <p:txBody>
          <a:bodyPr wrap="square" lIns="0" tIns="0" rIns="0" bIns="0" rtlCol="0" anchor="ctr"/>
          <a:lstStyle/>
          <a:p>
            <a:pPr marL="0" indent="0" algn="l">
              <a:lnSpc>
                <a:spcPct val="100000"/>
              </a:lnSpc>
              <a:buNone/>
            </a:pPr>
            <a:r>
              <a:rPr lang="en-US" sz="2500" b="1" dirty="0">
                <a:solidFill>
                  <a:srgbClr val="1C3354"/>
                </a:solidFill>
                <a:latin typeface="Arial" pitchFamily="34" charset="0"/>
                <a:ea typeface="Arial" pitchFamily="34" charset="-122"/>
                <a:cs typeface="Arial" pitchFamily="34" charset="-120"/>
              </a:rPr>
              <a:t>Оценка стоимости проекта: основные подходы
</a:t>
            </a:r>
            <a:endParaRPr lang="en-US" sz="2500" dirty="0"/>
          </a:p>
        </p:txBody>
      </p:sp>
      <p:sp>
        <p:nvSpPr>
          <p:cNvPr id="8" name="Text 5"/>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35400" y="1740234"/>
            <a:ext cx="4339200" cy="2073882"/>
          </a:xfrm>
          <a:prstGeom prst="rect">
            <a:avLst/>
          </a:prstGeom>
        </p:spPr>
      </p:pic>
      <p:sp>
        <p:nvSpPr>
          <p:cNvPr id="4" name="Text 0"/>
          <p:cNvSpPr txBox="1"/>
          <p:nvPr/>
        </p:nvSpPr>
        <p:spPr>
          <a:xfrm>
            <a:off x="292825" y="310575"/>
            <a:ext cx="8380800" cy="833400"/>
          </a:xfrm>
          <a:prstGeom prst="rect">
            <a:avLst/>
          </a:prstGeom>
          <a:noFill/>
          <a:ln/>
        </p:spPr>
        <p:txBody>
          <a:bodyPr wrap="square" lIns="0" tIns="0" rIns="0" bIns="0" rtlCol="0" anchor="ctr"/>
          <a:lstStyle/>
          <a:p>
            <a:pPr marL="0" indent="0" algn="l">
              <a:lnSpc>
                <a:spcPct val="120000"/>
              </a:lnSpc>
              <a:buNone/>
            </a:pPr>
            <a:r>
              <a:rPr lang="en-US" sz="2500" b="1" dirty="0">
                <a:solidFill>
                  <a:srgbClr val="1C3354"/>
                </a:solidFill>
                <a:latin typeface="Arial" pitchFamily="34" charset="0"/>
                <a:ea typeface="Arial" pitchFamily="34" charset="-122"/>
                <a:cs typeface="Arial" pitchFamily="34" charset="-120"/>
              </a:rPr>
              <a:t>Структура затрат проекта
</a:t>
            </a:r>
            <a:endParaRPr lang="en-US" sz="2500" dirty="0"/>
          </a:p>
        </p:txBody>
      </p:sp>
      <p:sp>
        <p:nvSpPr>
          <p:cNvPr id="5" name="Text 1"/>
          <p:cNvSpPr txBox="1"/>
          <p:nvPr/>
        </p:nvSpPr>
        <p:spPr>
          <a:xfrm>
            <a:off x="4930675" y="991650"/>
            <a:ext cx="3742800" cy="3570900"/>
          </a:xfrm>
          <a:prstGeom prst="rect">
            <a:avLst/>
          </a:prstGeom>
          <a:noFill/>
          <a:ln/>
        </p:spPr>
        <p:txBody>
          <a:bodyPr wrap="square" lIns="0" tIns="0" rIns="0" bIns="0" rtlCol="0" anchor="ctr"/>
          <a:lstStyle/>
          <a:p>
            <a:pPr marL="0" indent="0" algn="l">
              <a:lnSpc>
                <a:spcPct val="115000"/>
              </a:lnSpc>
              <a:buNone/>
            </a:pPr>
            <a:r>
              <a:rPr lang="en-US" sz="1500" dirty="0">
                <a:solidFill>
                  <a:srgbClr val="000000"/>
                </a:solidFill>
                <a:latin typeface="Arial" pitchFamily="34" charset="0"/>
                <a:ea typeface="Arial" pitchFamily="34" charset="-122"/>
                <a:cs typeface="Arial" pitchFamily="34" charset="-120"/>
              </a:rPr>
              <a:t>Данные представлены по основным статьям затрат, позволяя увидеть их долю и влияние на общий бюджет.
</a:t>
            </a:r>
            <a:r>
              <a:rPr lang="en-US" sz="1800" dirty="0">
                <a:solidFill>
                  <a:srgbClr val="000000"/>
                </a:solidFill>
                <a:latin typeface="Arial" pitchFamily="34" charset="0"/>
                <a:ea typeface="Arial" pitchFamily="34" charset="-122"/>
                <a:cs typeface="Arial" pitchFamily="34" charset="-120"/>
              </a:rPr>
              <a:t>
</a:t>
            </a:r>
            <a:r>
              <a:rPr lang="en-US" sz="1500" dirty="0">
                <a:solidFill>
                  <a:srgbClr val="000000"/>
                </a:solidFill>
                <a:latin typeface="Arial" pitchFamily="34" charset="0"/>
                <a:ea typeface="Arial" pitchFamily="34" charset="-122"/>
                <a:cs typeface="Arial" pitchFamily="34" charset="-120"/>
              </a:rPr>
              <a:t>Материалы и труд составляют основную часть затрат, что требует внимания к оптимизации этих статей для эффективного управления бюджетом.
</a:t>
            </a:r>
            <a:endParaRPr lang="en-US" sz="1500" dirty="0"/>
          </a:p>
        </p:txBody>
      </p:sp>
      <p:sp>
        <p:nvSpPr>
          <p:cNvPr id="7" name="Text 3"/>
          <p:cNvSpPr txBox="1"/>
          <p:nvPr/>
        </p:nvSpPr>
        <p:spPr>
          <a:xfrm>
            <a:off x="8425975" y="4777775"/>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pic>
        <p:nvPicPr>
          <p:cNvPr id="4" name="Image 2" descr="preencoded.png"/>
          <p:cNvPicPr>
            <a:picLocks noChangeAspect="1"/>
          </p:cNvPicPr>
          <p:nvPr/>
        </p:nvPicPr>
        <p:blipFill>
          <a:blip r:embed="rId5"/>
          <a:stretch>
            <a:fillRect/>
          </a:stretch>
        </p:blipFill>
        <p:spPr>
          <a:xfrm>
            <a:off x="0" y="0"/>
            <a:ext cx="9144000" cy="5143500"/>
          </a:xfrm>
          <a:prstGeom prst="rect">
            <a:avLst/>
          </a:prstGeom>
        </p:spPr>
      </p:pic>
      <p:pic>
        <p:nvPicPr>
          <p:cNvPr id="5" name="Image 3" descr="preencoded.png"/>
          <p:cNvPicPr>
            <a:picLocks noChangeAspect="1"/>
          </p:cNvPicPr>
          <p:nvPr/>
        </p:nvPicPr>
        <p:blipFill>
          <a:blip r:embed="rId6"/>
          <a:stretch>
            <a:fillRect/>
          </a:stretch>
        </p:blipFill>
        <p:spPr>
          <a:xfrm>
            <a:off x="0" y="0"/>
            <a:ext cx="9144000" cy="5143500"/>
          </a:xfrm>
          <a:prstGeom prst="rect">
            <a:avLst/>
          </a:prstGeom>
        </p:spPr>
      </p:pic>
      <p:sp>
        <p:nvSpPr>
          <p:cNvPr id="6" name="Text 0"/>
          <p:cNvSpPr txBox="1"/>
          <p:nvPr/>
        </p:nvSpPr>
        <p:spPr>
          <a:xfrm>
            <a:off x="199925" y="966200"/>
            <a:ext cx="3721500" cy="1210200"/>
          </a:xfrm>
          <a:prstGeom prst="rect">
            <a:avLst/>
          </a:prstGeom>
          <a:noFill/>
          <a:ln/>
        </p:spPr>
        <p:txBody>
          <a:bodyPr wrap="square" lIns="0" tIns="0" rIns="0" bIns="0" rtlCol="0" anchor="t"/>
          <a:lstStyle/>
          <a:p>
            <a:pPr marL="0" indent="0" algn="l">
              <a:lnSpc>
                <a:spcPct val="100000"/>
              </a:lnSpc>
              <a:buNone/>
            </a:pPr>
            <a:r>
              <a:rPr lang="en-US" sz="2500" b="1" dirty="0">
                <a:solidFill>
                  <a:srgbClr val="1C3354"/>
                </a:solidFill>
                <a:latin typeface="Arial" pitchFamily="34" charset="0"/>
                <a:ea typeface="Arial" pitchFamily="34" charset="-122"/>
                <a:cs typeface="Arial" pitchFamily="34" charset="-120"/>
              </a:rPr>
              <a:t>Источники финансирования проекта
</a:t>
            </a:r>
            <a:endParaRPr lang="en-US" sz="2500" dirty="0"/>
          </a:p>
        </p:txBody>
      </p:sp>
      <p:sp>
        <p:nvSpPr>
          <p:cNvPr id="7" name="Text 1"/>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E6E9EF"/>
                </a:solidFill>
                <a:latin typeface="Arial" pitchFamily="34" charset="0"/>
                <a:ea typeface="Arial" pitchFamily="34" charset="-122"/>
                <a:cs typeface="Arial" pitchFamily="34" charset="-120"/>
              </a:rPr>
              <a:t>26</a:t>
            </a:r>
            <a:endParaRPr lang="en-US" sz="1200" dirty="0"/>
          </a:p>
        </p:txBody>
      </p:sp>
      <p:sp>
        <p:nvSpPr>
          <p:cNvPr id="8" name="Text 2"/>
          <p:cNvSpPr txBox="1"/>
          <p:nvPr/>
        </p:nvSpPr>
        <p:spPr>
          <a:xfrm>
            <a:off x="4748050" y="1180254"/>
            <a:ext cx="3502800" cy="781800"/>
          </a:xfrm>
          <a:prstGeom prst="rect">
            <a:avLst/>
          </a:prstGeom>
          <a:noFill/>
          <a:ln/>
        </p:spPr>
        <p:txBody>
          <a:bodyPr wrap="square" lIns="0" tIns="0" rIns="0" bIns="0" rtlCol="0" anchor="t"/>
          <a:lstStyle/>
          <a:p>
            <a:pPr marL="0" indent="0" algn="l">
              <a:lnSpc>
                <a:spcPct val="100000"/>
              </a:lnSpc>
              <a:buNone/>
            </a:pPr>
            <a:r>
              <a:rPr lang="en-US" sz="1200" dirty="0">
                <a:solidFill>
                  <a:srgbClr val="1C3354"/>
                </a:solidFill>
                <a:latin typeface="Arial" pitchFamily="34" charset="0"/>
                <a:ea typeface="Arial" pitchFamily="34" charset="-122"/>
                <a:cs typeface="Arial" pitchFamily="34" charset="-120"/>
              </a:rPr>
              <a:t>Внешние источники включают банковские кредиты, инвестиции и государственные гранты, обеспечивающие значительный объем финансирования.
</a:t>
            </a:r>
            <a:endParaRPr lang="en-US" sz="1200" dirty="0"/>
          </a:p>
        </p:txBody>
      </p:sp>
      <p:sp>
        <p:nvSpPr>
          <p:cNvPr id="9" name="Text 3"/>
          <p:cNvSpPr txBox="1"/>
          <p:nvPr/>
        </p:nvSpPr>
        <p:spPr>
          <a:xfrm>
            <a:off x="4748050" y="2399529"/>
            <a:ext cx="3502800" cy="781800"/>
          </a:xfrm>
          <a:prstGeom prst="rect">
            <a:avLst/>
          </a:prstGeom>
          <a:noFill/>
          <a:ln/>
        </p:spPr>
        <p:txBody>
          <a:bodyPr wrap="square" lIns="0" tIns="0" rIns="0" bIns="0" rtlCol="0" anchor="t"/>
          <a:lstStyle/>
          <a:p>
            <a:pPr marL="0" indent="0" algn="l">
              <a:lnSpc>
                <a:spcPct val="100000"/>
              </a:lnSpc>
              <a:buNone/>
            </a:pPr>
            <a:r>
              <a:rPr lang="en-US" sz="1200" dirty="0">
                <a:solidFill>
                  <a:srgbClr val="1C3354"/>
                </a:solidFill>
                <a:latin typeface="Arial" pitchFamily="34" charset="0"/>
                <a:ea typeface="Arial" pitchFamily="34" charset="-122"/>
                <a:cs typeface="Arial" pitchFamily="34" charset="-120"/>
              </a:rPr>
              <a:t>Внутренние средства предприятия состоят из собственных резервов и амортизационных отчислений, что повышает финансовую устойчивость проекта.
</a:t>
            </a:r>
            <a:endParaRPr lang="en-US" sz="1200" dirty="0"/>
          </a:p>
        </p:txBody>
      </p:sp>
      <p:sp>
        <p:nvSpPr>
          <p:cNvPr id="10" name="Text 4"/>
          <p:cNvSpPr txBox="1"/>
          <p:nvPr/>
        </p:nvSpPr>
        <p:spPr>
          <a:xfrm>
            <a:off x="4748050" y="3694929"/>
            <a:ext cx="3502800" cy="781800"/>
          </a:xfrm>
          <a:prstGeom prst="rect">
            <a:avLst/>
          </a:prstGeom>
          <a:noFill/>
          <a:ln/>
        </p:spPr>
        <p:txBody>
          <a:bodyPr wrap="square" lIns="0" tIns="0" rIns="0" bIns="0" rtlCol="0" anchor="t"/>
          <a:lstStyle/>
          <a:p>
            <a:pPr marL="0" indent="0" algn="l">
              <a:lnSpc>
                <a:spcPct val="100000"/>
              </a:lnSpc>
              <a:buNone/>
            </a:pPr>
            <a:r>
              <a:rPr lang="en-US" sz="1200" dirty="0">
                <a:solidFill>
                  <a:srgbClr val="1C3354"/>
                </a:solidFill>
                <a:latin typeface="Arial" pitchFamily="34" charset="0"/>
                <a:ea typeface="Arial" pitchFamily="34" charset="-122"/>
                <a:cs typeface="Arial" pitchFamily="34" charset="-120"/>
              </a:rPr>
              <a:t>Правильное сочетание источников позволяет сбалансировать финансовые потоки, уменьшить стоимость капитала и обеспечить непрерывность финансирования.
</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pic>
        <p:nvPicPr>
          <p:cNvPr id="4" name="Image 2" descr="preencoded.png"/>
          <p:cNvPicPr>
            <a:picLocks noChangeAspect="1"/>
          </p:cNvPicPr>
          <p:nvPr/>
        </p:nvPicPr>
        <p:blipFill>
          <a:blip r:embed="rId5"/>
          <a:stretch>
            <a:fillRect/>
          </a:stretch>
        </p:blipFill>
        <p:spPr>
          <a:xfrm>
            <a:off x="0" y="0"/>
            <a:ext cx="9144000" cy="5143500"/>
          </a:xfrm>
          <a:prstGeom prst="rect">
            <a:avLst/>
          </a:prstGeom>
        </p:spPr>
      </p:pic>
      <p:sp>
        <p:nvSpPr>
          <p:cNvPr id="5" name="Text 0"/>
          <p:cNvSpPr txBox="1"/>
          <p:nvPr/>
        </p:nvSpPr>
        <p:spPr>
          <a:xfrm>
            <a:off x="241950" y="580350"/>
            <a:ext cx="8486400" cy="1202100"/>
          </a:xfrm>
          <a:prstGeom prst="rect">
            <a:avLst/>
          </a:prstGeom>
          <a:noFill/>
          <a:ln/>
        </p:spPr>
        <p:txBody>
          <a:bodyPr wrap="square" lIns="0" tIns="0" rIns="0" bIns="0" rtlCol="0" anchor="b"/>
          <a:lstStyle/>
          <a:p>
            <a:pPr marL="0" indent="0" algn="ctr">
              <a:lnSpc>
                <a:spcPct val="100000"/>
              </a:lnSpc>
              <a:buNone/>
            </a:pPr>
            <a:r>
              <a:rPr lang="en-US" sz="2500" b="1" dirty="0">
                <a:solidFill>
                  <a:srgbClr val="1C3354"/>
                </a:solidFill>
                <a:latin typeface="Arial" pitchFamily="34" charset="0"/>
                <a:ea typeface="Arial" pitchFamily="34" charset="-122"/>
                <a:cs typeface="Arial" pitchFamily="34" charset="-120"/>
              </a:rPr>
              <a:t>Риски и особенности финансирования проектов
</a:t>
            </a:r>
            <a:endParaRPr lang="en-US" sz="2500" dirty="0"/>
          </a:p>
        </p:txBody>
      </p:sp>
      <p:sp>
        <p:nvSpPr>
          <p:cNvPr id="6" name="Text 1"/>
          <p:cNvSpPr txBox="1"/>
          <p:nvPr/>
        </p:nvSpPr>
        <p:spPr>
          <a:xfrm>
            <a:off x="200250" y="2383325"/>
            <a:ext cx="2690400" cy="1790100"/>
          </a:xfrm>
          <a:prstGeom prst="rect">
            <a:avLst/>
          </a:prstGeom>
          <a:noFill/>
          <a:ln/>
        </p:spPr>
        <p:txBody>
          <a:bodyPr wrap="square" lIns="0" tIns="0" rIns="0" bIns="0" rtlCol="0" anchor="t"/>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Изменения процентных ставок и задержки платежей могут негативно сказаться на ликвидности и выполнении проекта в срок.
</a:t>
            </a:r>
            <a:endParaRPr lang="en-US" sz="1200" dirty="0"/>
          </a:p>
        </p:txBody>
      </p:sp>
      <p:sp>
        <p:nvSpPr>
          <p:cNvPr id="7" name="Text 2"/>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27</a:t>
            </a:r>
            <a:endParaRPr lang="en-US" sz="1200" dirty="0"/>
          </a:p>
        </p:txBody>
      </p:sp>
      <p:sp>
        <p:nvSpPr>
          <p:cNvPr id="8" name="Text 3"/>
          <p:cNvSpPr txBox="1"/>
          <p:nvPr/>
        </p:nvSpPr>
        <p:spPr>
          <a:xfrm>
            <a:off x="3226800" y="2383325"/>
            <a:ext cx="2690400" cy="1790100"/>
          </a:xfrm>
          <a:prstGeom prst="rect">
            <a:avLst/>
          </a:prstGeom>
          <a:noFill/>
          <a:ln/>
        </p:spPr>
        <p:txBody>
          <a:bodyPr wrap="square" lIns="0" tIns="0" rIns="0" bIns="0" rtlCol="0" anchor="t"/>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Использование резервных фондов и страхование помогает снизить влияние финансовых рисков и уберечь проект от непредвиденных расходов.
</a:t>
            </a:r>
            <a:endParaRPr lang="en-US" sz="1200" dirty="0"/>
          </a:p>
        </p:txBody>
      </p:sp>
      <p:sp>
        <p:nvSpPr>
          <p:cNvPr id="9" name="Text 4"/>
          <p:cNvSpPr txBox="1"/>
          <p:nvPr/>
        </p:nvSpPr>
        <p:spPr>
          <a:xfrm>
            <a:off x="6253350" y="2383325"/>
            <a:ext cx="2690400" cy="1790100"/>
          </a:xfrm>
          <a:prstGeom prst="rect">
            <a:avLst/>
          </a:prstGeom>
          <a:noFill/>
          <a:ln/>
        </p:spPr>
        <p:txBody>
          <a:bodyPr wrap="square" lIns="0" tIns="0" rIns="0" bIns="0" rtlCol="0" anchor="t"/>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Диверсификация источников финансирования повышает устойчивость проекта, снижая зависимость от одного канала и улучшая управление рисками.
</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
        <p:nvSpPr>
          <p:cNvPr id="4" name="Text 0"/>
          <p:cNvSpPr txBox="1"/>
          <p:nvPr/>
        </p:nvSpPr>
        <p:spPr>
          <a:xfrm>
            <a:off x="371525" y="298825"/>
            <a:ext cx="8377800" cy="991800"/>
          </a:xfrm>
          <a:prstGeom prst="rect">
            <a:avLst/>
          </a:prstGeom>
          <a:noFill/>
          <a:ln/>
        </p:spPr>
        <p:txBody>
          <a:bodyPr wrap="square" lIns="0" tIns="0" rIns="0" bIns="0" rtlCol="0" anchor="ctr"/>
          <a:lstStyle/>
          <a:p>
            <a:pPr marL="0" indent="0" algn="ctr">
              <a:lnSpc>
                <a:spcPct val="100000"/>
              </a:lnSpc>
              <a:buNone/>
            </a:pPr>
            <a:r>
              <a:rPr lang="en-US" sz="2500" b="1" dirty="0">
                <a:solidFill>
                  <a:srgbClr val="1C3354"/>
                </a:solidFill>
                <a:latin typeface="Arial" pitchFamily="34" charset="0"/>
                <a:ea typeface="Arial" pitchFamily="34" charset="-122"/>
                <a:cs typeface="Arial" pitchFamily="34" charset="-120"/>
              </a:rPr>
              <a:t>Интеграция сетевого графика и ресурсного планирования
</a:t>
            </a:r>
            <a:endParaRPr lang="en-US" sz="2500" dirty="0"/>
          </a:p>
        </p:txBody>
      </p:sp>
      <p:sp>
        <p:nvSpPr>
          <p:cNvPr id="5" name="Text 1"/>
          <p:cNvSpPr txBox="1"/>
          <p:nvPr/>
        </p:nvSpPr>
        <p:spPr>
          <a:xfrm>
            <a:off x="762575" y="3435000"/>
            <a:ext cx="3453600" cy="1215900"/>
          </a:xfrm>
          <a:prstGeom prst="rect">
            <a:avLst/>
          </a:prstGeom>
          <a:noFill/>
          <a:ln/>
        </p:spPr>
        <p:txBody>
          <a:bodyPr wrap="square" lIns="0" tIns="0" rIns="0" bIns="0" rtlCol="0" anchor="ctr"/>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Совместное использование графика и ресурсного плана повышает эффективность управления и снижает вероятность задержек в проекте.
</a:t>
            </a:r>
            <a:endParaRPr lang="en-US" sz="1200" dirty="0"/>
          </a:p>
        </p:txBody>
      </p:sp>
      <p:sp>
        <p:nvSpPr>
          <p:cNvPr id="6" name="Text 2"/>
          <p:cNvSpPr txBox="1"/>
          <p:nvPr/>
        </p:nvSpPr>
        <p:spPr>
          <a:xfrm>
            <a:off x="762650" y="1724875"/>
            <a:ext cx="3453600" cy="1215900"/>
          </a:xfrm>
          <a:prstGeom prst="rect">
            <a:avLst/>
          </a:prstGeom>
          <a:noFill/>
          <a:ln/>
        </p:spPr>
        <p:txBody>
          <a:bodyPr wrap="square" lIns="0" tIns="0" rIns="0" bIns="0" rtlCol="0" anchor="ctr"/>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Сетевой график позволяет точно связывать распределение трудовых и материальных ресурсов с конкретными задачами и сроками проекта.
</a:t>
            </a:r>
            <a:endParaRPr lang="en-US" sz="1200" dirty="0"/>
          </a:p>
        </p:txBody>
      </p:sp>
      <p:sp>
        <p:nvSpPr>
          <p:cNvPr id="7" name="Text 3"/>
          <p:cNvSpPr txBox="1"/>
          <p:nvPr/>
        </p:nvSpPr>
        <p:spPr>
          <a:xfrm>
            <a:off x="5161675" y="1724825"/>
            <a:ext cx="3453600" cy="1215900"/>
          </a:xfrm>
          <a:prstGeom prst="rect">
            <a:avLst/>
          </a:prstGeom>
          <a:noFill/>
          <a:ln/>
        </p:spPr>
        <p:txBody>
          <a:bodyPr wrap="square" lIns="0" tIns="0" rIns="0" bIns="0" rtlCol="0" anchor="ctr"/>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Определение узких мест помогает выявить дефицитные ресурсы и принять своевременные меры для их оптимизации.
</a:t>
            </a:r>
            <a:endParaRPr lang="en-US" sz="1200" dirty="0"/>
          </a:p>
        </p:txBody>
      </p:sp>
      <p:sp>
        <p:nvSpPr>
          <p:cNvPr id="8" name="Text 4"/>
          <p:cNvSpPr txBox="1"/>
          <p:nvPr/>
        </p:nvSpPr>
        <p:spPr>
          <a:xfrm>
            <a:off x="5153750" y="3435000"/>
            <a:ext cx="3453600" cy="1215900"/>
          </a:xfrm>
          <a:prstGeom prst="rect">
            <a:avLst/>
          </a:prstGeom>
          <a:noFill/>
          <a:ln/>
        </p:spPr>
        <p:txBody>
          <a:bodyPr wrap="square" lIns="0" tIns="0" rIns="0" bIns="0" rtlCol="0" anchor="ctr"/>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Такой подход способствует лучшему контролю исполнения и позволяет гибко адаптировать планы при изменениях в параметрах проекта.
</a:t>
            </a:r>
            <a:endParaRPr lang="en-US" sz="1200" dirty="0"/>
          </a:p>
        </p:txBody>
      </p:sp>
      <p:sp>
        <p:nvSpPr>
          <p:cNvPr id="9" name="Text 5"/>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
        <p:nvSpPr>
          <p:cNvPr id="4" name="Text 0"/>
          <p:cNvSpPr txBox="1"/>
          <p:nvPr/>
        </p:nvSpPr>
        <p:spPr>
          <a:xfrm>
            <a:off x="720000" y="254325"/>
            <a:ext cx="7704000" cy="851700"/>
          </a:xfrm>
          <a:prstGeom prst="rect">
            <a:avLst/>
          </a:prstGeom>
          <a:noFill/>
          <a:ln/>
        </p:spPr>
        <p:txBody>
          <a:bodyPr wrap="square" lIns="0" tIns="0" rIns="0" bIns="0" rtlCol="0" anchor="t"/>
          <a:lstStyle/>
          <a:p>
            <a:pPr marL="0" indent="0" algn="ctr">
              <a:lnSpc>
                <a:spcPct val="100000"/>
              </a:lnSpc>
              <a:buNone/>
            </a:pPr>
            <a:r>
              <a:rPr lang="en-US" sz="2500" b="1" dirty="0">
                <a:solidFill>
                  <a:srgbClr val="1C3354"/>
                </a:solidFill>
                <a:latin typeface="Arial" pitchFamily="34" charset="0"/>
                <a:ea typeface="Arial" pitchFamily="34" charset="-122"/>
                <a:cs typeface="Arial" pitchFamily="34" charset="-120"/>
              </a:rPr>
              <a:t>Координация оценки стоимости и планирования ресурсов
</a:t>
            </a:r>
            <a:endParaRPr lang="en-US" sz="2500" dirty="0"/>
          </a:p>
        </p:txBody>
      </p:sp>
      <p:sp>
        <p:nvSpPr>
          <p:cNvPr id="5" name="Text 1"/>
          <p:cNvSpPr txBox="1"/>
          <p:nvPr/>
        </p:nvSpPr>
        <p:spPr>
          <a:xfrm>
            <a:off x="1779225" y="3535375"/>
            <a:ext cx="2876700" cy="1496100"/>
          </a:xfrm>
          <a:prstGeom prst="rect">
            <a:avLst/>
          </a:prstGeom>
          <a:noFill/>
          <a:ln/>
        </p:spPr>
        <p:txBody>
          <a:bodyPr wrap="square" lIns="0" tIns="0" rIns="0" bIns="0" rtlCol="0" anchor="t"/>
          <a:lstStyle/>
          <a:p>
            <a:pPr marL="0" indent="0" algn="l">
              <a:lnSpc>
                <a:spcPct val="115000"/>
              </a:lnSpc>
              <a:buNone/>
            </a:pPr>
            <a:r>
              <a:rPr lang="en-US" sz="1300" dirty="0">
                <a:solidFill>
                  <a:srgbClr val="1C3354"/>
                </a:solidFill>
                <a:latin typeface="Arial" pitchFamily="34" charset="0"/>
                <a:ea typeface="Arial" pitchFamily="34" charset="-122"/>
                <a:cs typeface="Arial" pitchFamily="34" charset="-120"/>
              </a:rPr>
              <a:t>Прозрачность в оценке затрат и ресурсов способствует контролю исполнения, улучшает коммуникацию между отделами и повышает ответственность участников проекта.
</a:t>
            </a:r>
            <a:endParaRPr lang="en-US" sz="1300" dirty="0"/>
          </a:p>
        </p:txBody>
      </p:sp>
      <p:sp>
        <p:nvSpPr>
          <p:cNvPr id="6" name="Text 2"/>
          <p:cNvSpPr txBox="1"/>
          <p:nvPr/>
        </p:nvSpPr>
        <p:spPr>
          <a:xfrm>
            <a:off x="1779225" y="1740575"/>
            <a:ext cx="2876700" cy="1496100"/>
          </a:xfrm>
          <a:prstGeom prst="rect">
            <a:avLst/>
          </a:prstGeom>
          <a:noFill/>
          <a:ln/>
        </p:spPr>
        <p:txBody>
          <a:bodyPr wrap="square" lIns="0" tIns="0" rIns="0" bIns="0" rtlCol="0" anchor="t"/>
          <a:lstStyle/>
          <a:p>
            <a:pPr marL="0" indent="0" algn="l">
              <a:lnSpc>
                <a:spcPct val="115000"/>
              </a:lnSpc>
              <a:buNone/>
            </a:pPr>
            <a:r>
              <a:rPr lang="en-US" sz="1300" dirty="0">
                <a:solidFill>
                  <a:srgbClr val="1C3354"/>
                </a:solidFill>
                <a:latin typeface="Arial" pitchFamily="34" charset="0"/>
                <a:ea typeface="Arial" pitchFamily="34" charset="-122"/>
                <a:cs typeface="Arial" pitchFamily="34" charset="-120"/>
              </a:rPr>
              <a:t>Согласование сметы с ресурсным планом помогает избежать несоответствий бюджета и реальных затрат, повышая достоверность прогнозов и снижая финансовые риски.
</a:t>
            </a:r>
            <a:endParaRPr lang="en-US" sz="1300" dirty="0"/>
          </a:p>
        </p:txBody>
      </p:sp>
      <p:sp>
        <p:nvSpPr>
          <p:cNvPr id="7" name="Text 3"/>
          <p:cNvSpPr txBox="1"/>
          <p:nvPr/>
        </p:nvSpPr>
        <p:spPr>
          <a:xfrm>
            <a:off x="6013325" y="1711000"/>
            <a:ext cx="2876700" cy="1496100"/>
          </a:xfrm>
          <a:prstGeom prst="rect">
            <a:avLst/>
          </a:prstGeom>
          <a:noFill/>
          <a:ln/>
        </p:spPr>
        <p:txBody>
          <a:bodyPr wrap="square" lIns="0" tIns="0" rIns="0" bIns="0" rtlCol="0" anchor="t"/>
          <a:lstStyle/>
          <a:p>
            <a:pPr marL="0" indent="0" algn="l">
              <a:lnSpc>
                <a:spcPct val="115000"/>
              </a:lnSpc>
              <a:buNone/>
            </a:pPr>
            <a:r>
              <a:rPr lang="en-US" sz="1300" dirty="0">
                <a:solidFill>
                  <a:srgbClr val="1C3354"/>
                </a:solidFill>
                <a:latin typeface="Arial" pitchFamily="34" charset="0"/>
                <a:ea typeface="Arial" pitchFamily="34" charset="-122"/>
                <a:cs typeface="Arial" pitchFamily="34" charset="-120"/>
              </a:rPr>
              <a:t>Учет изменений в ходе проекта требует регулярных корректировок плана и пересмотра финансирования, что поддерживает управляемость и адаптивность процесса.
</a:t>
            </a:r>
            <a:endParaRPr lang="en-US" sz="1300" dirty="0"/>
          </a:p>
        </p:txBody>
      </p:sp>
      <p:sp>
        <p:nvSpPr>
          <p:cNvPr id="8" name="Text 4"/>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txBox="1"/>
          <p:nvPr/>
        </p:nvSpPr>
        <p:spPr>
          <a:xfrm>
            <a:off x="3202402" y="3992789"/>
            <a:ext cx="5113200" cy="706200"/>
          </a:xfrm>
          <a:prstGeom prst="rect">
            <a:avLst/>
          </a:prstGeom>
          <a:noFill/>
          <a:ln/>
        </p:spPr>
        <p:txBody>
          <a:bodyPr wrap="square" lIns="0" tIns="0" rIns="0" bIns="0" rtlCol="0" anchor="ctr"/>
          <a:lstStyle/>
          <a:p>
            <a:pPr marL="0" indent="0" algn="l">
              <a:lnSpc>
                <a:spcPct val="115000"/>
              </a:lnSpc>
              <a:buNone/>
            </a:pPr>
            <a:r>
              <a:rPr lang="en-US" sz="1200" dirty="0">
                <a:solidFill>
                  <a:srgbClr val="000000"/>
                </a:solidFill>
                <a:latin typeface="Arial" pitchFamily="34" charset="0"/>
                <a:ea typeface="Arial" pitchFamily="34" charset="-122"/>
                <a:cs typeface="Arial" pitchFamily="34" charset="-120"/>
              </a:rPr>
              <a:t>Своевременное финансирование обеспечивает непрерывность процессов и повышает шансы успешного завершения проекта в установленные сроки.
</a:t>
            </a:r>
            <a:endParaRPr lang="en-US" sz="1200" dirty="0"/>
          </a:p>
        </p:txBody>
      </p:sp>
      <p:sp>
        <p:nvSpPr>
          <p:cNvPr id="4" name="Text 1"/>
          <p:cNvSpPr txBox="1"/>
          <p:nvPr/>
        </p:nvSpPr>
        <p:spPr>
          <a:xfrm>
            <a:off x="3378629" y="3166331"/>
            <a:ext cx="5113200" cy="706200"/>
          </a:xfrm>
          <a:prstGeom prst="rect">
            <a:avLst/>
          </a:prstGeom>
          <a:noFill/>
          <a:ln/>
        </p:spPr>
        <p:txBody>
          <a:bodyPr wrap="square" lIns="0" tIns="0" rIns="0" bIns="0" rtlCol="0" anchor="ctr"/>
          <a:lstStyle/>
          <a:p>
            <a:pPr marL="0" indent="0" algn="l">
              <a:lnSpc>
                <a:spcPct val="115000"/>
              </a:lnSpc>
              <a:buNone/>
            </a:pPr>
            <a:r>
              <a:rPr lang="en-US" sz="1200" dirty="0">
                <a:solidFill>
                  <a:srgbClr val="000000"/>
                </a:solidFill>
                <a:latin typeface="Arial" pitchFamily="34" charset="0"/>
                <a:ea typeface="Arial" pitchFamily="34" charset="-122"/>
                <a:cs typeface="Arial" pitchFamily="34" charset="-120"/>
              </a:rPr>
              <a:t>Контроль исполнения бюджета позволяет отслеживать соответствие фактических расходов запланированным и оперативно реагировать на отклонения.
</a:t>
            </a:r>
            <a:endParaRPr lang="en-US" sz="1200" dirty="0"/>
          </a:p>
        </p:txBody>
      </p:sp>
      <p:sp>
        <p:nvSpPr>
          <p:cNvPr id="5" name="Text 2"/>
          <p:cNvSpPr txBox="1"/>
          <p:nvPr/>
        </p:nvSpPr>
        <p:spPr>
          <a:xfrm>
            <a:off x="3554662" y="2391473"/>
            <a:ext cx="5113200" cy="654600"/>
          </a:xfrm>
          <a:prstGeom prst="rect">
            <a:avLst/>
          </a:prstGeom>
          <a:noFill/>
          <a:ln/>
        </p:spPr>
        <p:txBody>
          <a:bodyPr wrap="square" lIns="0" tIns="0" rIns="0" bIns="0" rtlCol="0" anchor="ctr"/>
          <a:lstStyle/>
          <a:p>
            <a:pPr marL="0" indent="0" algn="l">
              <a:lnSpc>
                <a:spcPct val="115000"/>
              </a:lnSpc>
              <a:buNone/>
            </a:pPr>
            <a:r>
              <a:rPr lang="en-US" sz="1200" dirty="0">
                <a:solidFill>
                  <a:srgbClr val="000000"/>
                </a:solidFill>
                <a:latin typeface="Arial" pitchFamily="34" charset="0"/>
                <a:ea typeface="Arial" pitchFamily="34" charset="-122"/>
                <a:cs typeface="Arial" pitchFamily="34" charset="-120"/>
              </a:rPr>
              <a:t>Планирование платежей обеспечивает своевременное поступление средств, минимизируя задержки и снижая риски финансовых срывов.
</a:t>
            </a:r>
            <a:endParaRPr lang="en-US" sz="1200" dirty="0"/>
          </a:p>
        </p:txBody>
      </p:sp>
      <p:sp>
        <p:nvSpPr>
          <p:cNvPr id="6" name="Text 3"/>
          <p:cNvSpPr txBox="1"/>
          <p:nvPr/>
        </p:nvSpPr>
        <p:spPr>
          <a:xfrm>
            <a:off x="3699877" y="1616615"/>
            <a:ext cx="5113200" cy="654600"/>
          </a:xfrm>
          <a:prstGeom prst="rect">
            <a:avLst/>
          </a:prstGeom>
          <a:noFill/>
          <a:ln/>
        </p:spPr>
        <p:txBody>
          <a:bodyPr wrap="square" lIns="0" tIns="0" rIns="0" bIns="0" rtlCol="0" anchor="ctr"/>
          <a:lstStyle/>
          <a:p>
            <a:pPr marL="0" indent="0" algn="l">
              <a:lnSpc>
                <a:spcPct val="115000"/>
              </a:lnSpc>
              <a:buNone/>
            </a:pPr>
            <a:r>
              <a:rPr lang="en-US" sz="1200" dirty="0">
                <a:solidFill>
                  <a:srgbClr val="000000"/>
                </a:solidFill>
                <a:latin typeface="Arial" pitchFamily="34" charset="0"/>
                <a:ea typeface="Arial" pitchFamily="34" charset="-122"/>
                <a:cs typeface="Arial" pitchFamily="34" charset="-120"/>
              </a:rPr>
              <a:t>Создание бюджета основано на детальном анализе потребностей каждого ресурса и выделения необходимых финансовых средств по этапам проекта.
</a:t>
            </a:r>
            <a:endParaRPr lang="en-US" sz="1200" dirty="0"/>
          </a:p>
        </p:txBody>
      </p:sp>
      <p:sp>
        <p:nvSpPr>
          <p:cNvPr id="7" name="Text 4"/>
          <p:cNvSpPr txBox="1"/>
          <p:nvPr/>
        </p:nvSpPr>
        <p:spPr>
          <a:xfrm>
            <a:off x="397250" y="573425"/>
            <a:ext cx="8334300" cy="519600"/>
          </a:xfrm>
          <a:prstGeom prst="rect">
            <a:avLst/>
          </a:prstGeom>
          <a:noFill/>
          <a:ln/>
        </p:spPr>
        <p:txBody>
          <a:bodyPr wrap="square" lIns="0" tIns="0" rIns="0" bIns="0" rtlCol="0" anchor="ctr"/>
          <a:lstStyle/>
          <a:p>
            <a:pPr marL="0" indent="0" algn="l">
              <a:lnSpc>
                <a:spcPct val="100000"/>
              </a:lnSpc>
              <a:buNone/>
            </a:pPr>
            <a:r>
              <a:rPr lang="en-US" sz="2200" b="1" dirty="0">
                <a:solidFill>
                  <a:srgbClr val="1C3354"/>
                </a:solidFill>
                <a:latin typeface="Arial" pitchFamily="34" charset="0"/>
                <a:ea typeface="Arial" pitchFamily="34" charset="-122"/>
                <a:cs typeface="Arial" pitchFamily="34" charset="-120"/>
              </a:rPr>
              <a:t>Финансовое планирование и обеспечение ресурсами
</a:t>
            </a:r>
            <a:endParaRPr lang="en-US" sz="2200" dirty="0"/>
          </a:p>
        </p:txBody>
      </p:sp>
      <p:sp>
        <p:nvSpPr>
          <p:cNvPr id="8" name="Text 5"/>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dirty="0"/>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
        <p:nvSpPr>
          <p:cNvPr id="4" name="Text 0"/>
          <p:cNvSpPr txBox="1"/>
          <p:nvPr/>
        </p:nvSpPr>
        <p:spPr>
          <a:xfrm>
            <a:off x="371525" y="298825"/>
            <a:ext cx="8377800" cy="991800"/>
          </a:xfrm>
          <a:prstGeom prst="rect">
            <a:avLst/>
          </a:prstGeom>
          <a:noFill/>
          <a:ln/>
        </p:spPr>
        <p:txBody>
          <a:bodyPr wrap="square" lIns="0" tIns="0" rIns="0" bIns="0" rtlCol="0" anchor="ctr"/>
          <a:lstStyle/>
          <a:p>
            <a:pPr marL="0" indent="0" algn="ctr">
              <a:lnSpc>
                <a:spcPct val="100000"/>
              </a:lnSpc>
              <a:buNone/>
            </a:pPr>
            <a:r>
              <a:rPr lang="en-US" sz="2500" b="1" dirty="0">
                <a:solidFill>
                  <a:srgbClr val="1C3354"/>
                </a:solidFill>
                <a:latin typeface="Arial" pitchFamily="34" charset="0"/>
                <a:ea typeface="Arial" pitchFamily="34" charset="-122"/>
                <a:cs typeface="Arial" pitchFamily="34" charset="-120"/>
              </a:rPr>
              <a:t>Современные тенденции в ресурсном и финансовом планировании проектов
</a:t>
            </a:r>
            <a:endParaRPr lang="en-US" sz="2500" dirty="0"/>
          </a:p>
        </p:txBody>
      </p:sp>
      <p:sp>
        <p:nvSpPr>
          <p:cNvPr id="5" name="Text 1"/>
          <p:cNvSpPr txBox="1"/>
          <p:nvPr/>
        </p:nvSpPr>
        <p:spPr>
          <a:xfrm>
            <a:off x="762575" y="3435000"/>
            <a:ext cx="3453600" cy="1215900"/>
          </a:xfrm>
          <a:prstGeom prst="rect">
            <a:avLst/>
          </a:prstGeom>
          <a:noFill/>
          <a:ln/>
        </p:spPr>
        <p:txBody>
          <a:bodyPr wrap="square" lIns="0" tIns="0" rIns="0" bIns="0" rtlCol="0" anchor="ctr"/>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Искусственный интеллект применяется для анализа больших данных, создавая точные модели затрат и потребностей ресурсов на основе исторической информации.
</a:t>
            </a:r>
            <a:endParaRPr lang="en-US" sz="1200" dirty="0"/>
          </a:p>
        </p:txBody>
      </p:sp>
      <p:sp>
        <p:nvSpPr>
          <p:cNvPr id="6" name="Text 2"/>
          <p:cNvSpPr txBox="1"/>
          <p:nvPr/>
        </p:nvSpPr>
        <p:spPr>
          <a:xfrm>
            <a:off x="762650" y="1724875"/>
            <a:ext cx="3453600" cy="1215900"/>
          </a:xfrm>
          <a:prstGeom prst="rect">
            <a:avLst/>
          </a:prstGeom>
          <a:noFill/>
          <a:ln/>
        </p:spPr>
        <p:txBody>
          <a:bodyPr wrap="square" lIns="0" tIns="0" rIns="0" bIns="0" rtlCol="0" anchor="ctr"/>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Активное внедрение гибких методологий позволяет динамично адаптировать планы и ресурсы в ответ на менявшиеся условия и требования.
</a:t>
            </a:r>
            <a:endParaRPr lang="en-US" sz="1200" dirty="0"/>
          </a:p>
        </p:txBody>
      </p:sp>
      <p:sp>
        <p:nvSpPr>
          <p:cNvPr id="7" name="Text 3"/>
          <p:cNvSpPr txBox="1"/>
          <p:nvPr/>
        </p:nvSpPr>
        <p:spPr>
          <a:xfrm>
            <a:off x="5161675" y="1724825"/>
            <a:ext cx="3453600" cy="1215900"/>
          </a:xfrm>
          <a:prstGeom prst="rect">
            <a:avLst/>
          </a:prstGeom>
          <a:noFill/>
          <a:ln/>
        </p:spPr>
        <p:txBody>
          <a:bodyPr wrap="square" lIns="0" tIns="0" rIns="0" bIns="0" rtlCol="0" anchor="ctr"/>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Использование цифровых двойников способствует подробному моделированию проектов, улучшая прогнозирование и предотвращение рисков.
</a:t>
            </a:r>
            <a:endParaRPr lang="en-US" sz="1200" dirty="0"/>
          </a:p>
        </p:txBody>
      </p:sp>
      <p:sp>
        <p:nvSpPr>
          <p:cNvPr id="8" name="Text 4"/>
          <p:cNvSpPr txBox="1"/>
          <p:nvPr/>
        </p:nvSpPr>
        <p:spPr>
          <a:xfrm>
            <a:off x="5153750" y="3435000"/>
            <a:ext cx="3453600" cy="1215900"/>
          </a:xfrm>
          <a:prstGeom prst="rect">
            <a:avLst/>
          </a:prstGeom>
          <a:noFill/>
          <a:ln/>
        </p:spPr>
        <p:txBody>
          <a:bodyPr wrap="square" lIns="0" tIns="0" rIns="0" bIns="0" rtlCol="0" anchor="ctr"/>
          <a:lstStyle/>
          <a:p>
            <a:pPr marL="0" indent="0" algn="l">
              <a:lnSpc>
                <a:spcPct val="115000"/>
              </a:lnSpc>
              <a:buNone/>
            </a:pPr>
            <a:r>
              <a:rPr lang="en-US" sz="1200" dirty="0">
                <a:solidFill>
                  <a:srgbClr val="1C3354"/>
                </a:solidFill>
                <a:latin typeface="Arial" pitchFamily="34" charset="0"/>
                <a:ea typeface="Arial" pitchFamily="34" charset="-122"/>
                <a:cs typeface="Arial" pitchFamily="34" charset="-120"/>
              </a:rPr>
              <a:t>Автоматизация процессов управления и расширенная аналитика повышают эффективность планирования, сокращают ошибки и улучшают контроль исполнения проекта.
</a:t>
            </a:r>
            <a:endParaRPr lang="en-US" sz="1200" dirty="0"/>
          </a:p>
        </p:txBody>
      </p:sp>
      <p:sp>
        <p:nvSpPr>
          <p:cNvPr id="9" name="Text 5"/>
          <p:cNvSpPr txBox="1"/>
          <p:nvPr/>
        </p:nvSpPr>
        <p:spPr>
          <a:xfrm>
            <a:off x="104375" y="4866200"/>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E6E9E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235400" y="1646016"/>
            <a:ext cx="4339200" cy="2262318"/>
          </a:xfrm>
          <a:prstGeom prst="rect">
            <a:avLst/>
          </a:prstGeom>
        </p:spPr>
      </p:pic>
      <p:sp>
        <p:nvSpPr>
          <p:cNvPr id="4" name="Text 0"/>
          <p:cNvSpPr txBox="1"/>
          <p:nvPr/>
        </p:nvSpPr>
        <p:spPr>
          <a:xfrm>
            <a:off x="292825" y="310575"/>
            <a:ext cx="8380800" cy="833400"/>
          </a:xfrm>
          <a:prstGeom prst="rect">
            <a:avLst/>
          </a:prstGeom>
          <a:noFill/>
          <a:ln/>
        </p:spPr>
        <p:txBody>
          <a:bodyPr wrap="square" lIns="0" tIns="0" rIns="0" bIns="0" rtlCol="0" anchor="ctr"/>
          <a:lstStyle/>
          <a:p>
            <a:pPr marL="0" indent="0" algn="l">
              <a:lnSpc>
                <a:spcPct val="120000"/>
              </a:lnSpc>
              <a:buNone/>
            </a:pPr>
            <a:r>
              <a:rPr lang="en-US" sz="2500" b="1" dirty="0">
                <a:solidFill>
                  <a:srgbClr val="1C3354"/>
                </a:solidFill>
                <a:latin typeface="Arial" pitchFamily="34" charset="0"/>
                <a:ea typeface="Arial" pitchFamily="34" charset="-122"/>
                <a:cs typeface="Arial" pitchFamily="34" charset="-120"/>
              </a:rPr>
              <a:t>Сравнительная характеристика методов оценки ресурсов и стоимости
</a:t>
            </a:r>
            <a:endParaRPr lang="en-US" sz="2500" dirty="0"/>
          </a:p>
        </p:txBody>
      </p:sp>
      <p:sp>
        <p:nvSpPr>
          <p:cNvPr id="5" name="Text 1"/>
          <p:cNvSpPr txBox="1"/>
          <p:nvPr/>
        </p:nvSpPr>
        <p:spPr>
          <a:xfrm>
            <a:off x="4930675" y="991650"/>
            <a:ext cx="3742800" cy="3570900"/>
          </a:xfrm>
          <a:prstGeom prst="rect">
            <a:avLst/>
          </a:prstGeom>
          <a:noFill/>
          <a:ln/>
        </p:spPr>
        <p:txBody>
          <a:bodyPr wrap="square" lIns="0" tIns="0" rIns="0" bIns="0" rtlCol="0" anchor="ctr"/>
          <a:lstStyle/>
          <a:p>
            <a:pPr marL="0" indent="0" algn="l">
              <a:lnSpc>
                <a:spcPct val="115000"/>
              </a:lnSpc>
              <a:buNone/>
            </a:pPr>
            <a:r>
              <a:rPr lang="en-US" sz="1500" dirty="0" err="1">
                <a:solidFill>
                  <a:srgbClr val="000000"/>
                </a:solidFill>
                <a:latin typeface="Arial" pitchFamily="34" charset="0"/>
                <a:ea typeface="Arial" pitchFamily="34" charset="-122"/>
                <a:cs typeface="Arial" pitchFamily="34" charset="-120"/>
              </a:rPr>
              <a:t>Выбор</a:t>
            </a:r>
            <a:r>
              <a:rPr lang="en-US" sz="1500" dirty="0">
                <a:solidFill>
                  <a:srgbClr val="000000"/>
                </a:solidFill>
                <a:latin typeface="Arial" pitchFamily="34" charset="0"/>
                <a:ea typeface="Arial" pitchFamily="34" charset="-122"/>
                <a:cs typeface="Arial" pitchFamily="34" charset="-120"/>
              </a:rPr>
              <a:t> метода зависит от сложности проекта и доступности данных, что позволяет оптимизировать затраты и качество планирования.
</a:t>
            </a:r>
            <a:endParaRPr lang="en-US" sz="1500" dirty="0"/>
          </a:p>
        </p:txBody>
      </p:sp>
      <p:sp>
        <p:nvSpPr>
          <p:cNvPr id="7" name="Text 3"/>
          <p:cNvSpPr txBox="1"/>
          <p:nvPr/>
        </p:nvSpPr>
        <p:spPr>
          <a:xfrm>
            <a:off x="8425975" y="4777775"/>
            <a:ext cx="547800" cy="623400"/>
          </a:xfrm>
          <a:prstGeom prst="rect">
            <a:avLst/>
          </a:prstGeom>
          <a:noFill/>
          <a:ln/>
        </p:spPr>
        <p:txBody>
          <a:bodyPr wrap="square" lIns="0" tIns="0" rIns="0" bIns="0" rtlCol="0" anchor="t"/>
          <a:lstStyle/>
          <a:p>
            <a:pPr marL="0" indent="0" algn="ctr">
              <a:lnSpc>
                <a:spcPct val="100000"/>
              </a:lnSpc>
              <a:buNone/>
            </a:pPr>
            <a:r>
              <a:rPr lang="en-US" sz="1200" b="1" dirty="0">
                <a:solidFill>
                  <a:srgbClr val="427697"/>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1156</Words>
  <Application>Microsoft Office PowerPoint</Application>
  <PresentationFormat>Экран (16:9)</PresentationFormat>
  <Paragraphs>210</Paragraphs>
  <Slides>32</Slides>
  <Notes>32</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32</vt:i4>
      </vt:variant>
    </vt:vector>
  </HeadingPairs>
  <TitlesOfParts>
    <vt:vector size="37" baseType="lpstr">
      <vt:lpstr>Arial</vt:lpstr>
      <vt:lpstr>Calibri</vt:lpstr>
      <vt:lpstr>Inter</vt:lpstr>
      <vt:lpstr>Roboto</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huw</dc:creator>
  <cp:lastModifiedBy>huw</cp:lastModifiedBy>
  <cp:revision>8</cp:revision>
  <dcterms:created xsi:type="dcterms:W3CDTF">2025-10-13T07:29:40Z</dcterms:created>
  <dcterms:modified xsi:type="dcterms:W3CDTF">2025-10-13T08:18:32Z</dcterms:modified>
</cp:coreProperties>
</file>