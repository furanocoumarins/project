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8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57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4" r:id="rId31"/>
    <p:sldId id="295" r:id="rId32"/>
    <p:sldId id="296" r:id="rId33"/>
    <p:sldId id="297" r:id="rId34"/>
    <p:sldId id="298" r:id="rId35"/>
    <p:sldId id="299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8" r:id="rId55"/>
    <p:sldId id="327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6" r:id="rId64"/>
    <p:sldId id="337" r:id="rId65"/>
    <p:sldId id="338" r:id="rId66"/>
    <p:sldId id="339" r:id="rId67"/>
    <p:sldId id="340" r:id="rId68"/>
    <p:sldId id="341" r:id="rId69"/>
    <p:sldId id="342" r:id="rId70"/>
    <p:sldId id="343" r:id="rId71"/>
    <p:sldId id="344" r:id="rId72"/>
    <p:sldId id="345" r:id="rId73"/>
    <p:sldId id="346" r:id="rId74"/>
    <p:sldId id="347" r:id="rId75"/>
    <p:sldId id="348" r:id="rId76"/>
    <p:sldId id="349" r:id="rId77"/>
    <p:sldId id="350" r:id="rId78"/>
    <p:sldId id="351" r:id="rId79"/>
    <p:sldId id="352" r:id="rId80"/>
    <p:sldId id="353" r:id="rId81"/>
    <p:sldId id="355" r:id="rId82"/>
    <p:sldId id="356" r:id="rId83"/>
    <p:sldId id="357" r:id="rId84"/>
    <p:sldId id="358" r:id="rId85"/>
    <p:sldId id="359" r:id="rId86"/>
    <p:sldId id="360" r:id="rId8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1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EBBB42-4471-4A4B-80C0-7A2BF79A96CC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528DA-6A06-4B9D-AD79-6ABE2E40D9F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8528DA-6A06-4B9D-AD79-6ABE2E40D9F9}" type="slidenum">
              <a:rPr lang="ru-RU" smtClean="0"/>
              <a:t>22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Тайм –менеджмент. Основные понятия и инструменты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1.  Определение </a:t>
            </a:r>
            <a:r>
              <a:rPr lang="ru-RU" dirty="0" err="1" smtClean="0"/>
              <a:t>тайм-менеджмента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4000" dirty="0" smtClean="0"/>
              <a:t>Управление временем — управление человеком собственной деятельностью, организацией выполнения задач и распределением всех ресурсов. </a:t>
            </a:r>
          </a:p>
          <a:p>
            <a:endParaRPr lang="ru-RU" sz="4000" dirty="0" smtClean="0"/>
          </a:p>
          <a:p>
            <a:endParaRPr lang="ru-RU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sz="2800" dirty="0" smtClean="0"/>
              <a:t>Тайм-менеджмент – технология, позволяющая использовать невосполнимое время жизни в соответствии со своими личными и </a:t>
            </a:r>
            <a:r>
              <a:rPr lang="ru-RU" sz="2800" dirty="0" err="1" smtClean="0"/>
              <a:t>бизнес-целями</a:t>
            </a:r>
            <a:r>
              <a:rPr lang="ru-RU" sz="2800" dirty="0" smtClean="0"/>
              <a:t> </a:t>
            </a:r>
            <a:r>
              <a:rPr lang="ru-RU" sz="2800" dirty="0" err="1" smtClean="0"/>
              <a:t>и</a:t>
            </a:r>
            <a:r>
              <a:rPr lang="ru-RU" sz="2800" dirty="0" smtClean="0"/>
              <a:t> ценностями.</a:t>
            </a:r>
            <a:endParaRPr lang="ru-RU" sz="2800" i="1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Принципы  тайм – менеджмента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>
                <a:solidFill>
                  <a:srgbClr val="0070C0"/>
                </a:solidFill>
              </a:rPr>
              <a:t>Эффективность </a:t>
            </a:r>
            <a:r>
              <a:rPr lang="ru-RU" dirty="0" smtClean="0"/>
              <a:t>Это тайм-менеджмент в его классическом понимании (определение расходов своего времени, планирование деятельности)</a:t>
            </a:r>
          </a:p>
          <a:p>
            <a:pPr algn="just"/>
            <a:r>
              <a:rPr lang="ru-RU" dirty="0" smtClean="0"/>
              <a:t>Ответ на вопрос «как?»</a:t>
            </a:r>
          </a:p>
          <a:p>
            <a:pPr algn="just"/>
            <a:r>
              <a:rPr lang="ru-RU" i="1" dirty="0" smtClean="0">
                <a:solidFill>
                  <a:srgbClr val="002060"/>
                </a:solidFill>
              </a:rPr>
              <a:t>Как хорошо подготовиться к контрольной работе в минимальный срок? Как организовать свое время так, чтобы успевать и работать, и учиться? Как наиболее результативно отдыхать?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>
                <a:solidFill>
                  <a:srgbClr val="0070C0"/>
                </a:solidFill>
              </a:rPr>
              <a:t>Технологии. </a:t>
            </a:r>
            <a:r>
              <a:rPr lang="ru-RU" dirty="0" smtClean="0"/>
              <a:t>Позволяют принимать наиболее сильные решения (технологии повышения личной эффективности). </a:t>
            </a:r>
          </a:p>
          <a:p>
            <a:r>
              <a:rPr lang="ru-RU" i="1" dirty="0" smtClean="0"/>
              <a:t>Это комплекс инструментов принятия стратегических решений, в том числе в области личной стратегии. </a:t>
            </a:r>
          </a:p>
          <a:p>
            <a:r>
              <a:rPr lang="ru-RU" i="1" dirty="0" smtClean="0">
                <a:solidFill>
                  <a:srgbClr val="002060"/>
                </a:solidFill>
              </a:rPr>
              <a:t>Как найти нужные аргументы, чтобы быстро убедить собеседника? Как найти творческое, нестандартное решение проблемы в короткие сроки? </a:t>
            </a:r>
            <a:endParaRPr lang="ru-RU" i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70C0"/>
                </a:solidFill>
              </a:rPr>
              <a:t>Стратегия </a:t>
            </a:r>
            <a:r>
              <a:rPr lang="ru-RU" dirty="0" smtClean="0"/>
              <a:t>–определение направления развития, это ответ на вопрос «Куда двигаться?»</a:t>
            </a:r>
          </a:p>
          <a:p>
            <a:r>
              <a:rPr lang="ru-RU" i="1" dirty="0" smtClean="0">
                <a:solidFill>
                  <a:srgbClr val="002060"/>
                </a:solidFill>
              </a:rPr>
              <a:t>Каковы мои стратегические и тактические цели? Продуман ли алгоритм их достижения? Организована ли моя повседневная деятельность в соответствии с моими целями?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70C0"/>
                </a:solidFill>
              </a:rPr>
              <a:t>Философия- </a:t>
            </a:r>
            <a:r>
              <a:rPr lang="ru-RU" dirty="0" smtClean="0"/>
              <a:t>это ответ на вопрос «Зачем?». Зачем ставить именно такие, а не иные цели? Как осознать свои жизненные ценности?</a:t>
            </a:r>
          </a:p>
          <a:p>
            <a:endParaRPr lang="ru-RU" dirty="0" smtClean="0"/>
          </a:p>
          <a:p>
            <a:r>
              <a:rPr lang="ru-RU" i="1" dirty="0" smtClean="0">
                <a:solidFill>
                  <a:srgbClr val="002060"/>
                </a:solidFill>
              </a:rPr>
              <a:t>Зачем ставить именно такие цели, а не другие? Как осознать свои жизненные ценности? Как найти смысл жизни и нужно ли его вообще искать?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Принципы тайм -менеджмента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Закон Парето</a:t>
            </a:r>
            <a:r>
              <a:rPr lang="ru-RU" dirty="0" smtClean="0"/>
              <a:t> (</a:t>
            </a:r>
            <a:r>
              <a:rPr lang="ru-RU" b="1" dirty="0" smtClean="0"/>
              <a:t>принцип Парето</a:t>
            </a:r>
            <a:r>
              <a:rPr lang="ru-RU" dirty="0" smtClean="0"/>
              <a:t>) или </a:t>
            </a:r>
            <a:r>
              <a:rPr lang="ru-RU" b="1" dirty="0" smtClean="0"/>
              <a:t>правило 80/20</a:t>
            </a:r>
            <a:r>
              <a:rPr lang="ru-RU" dirty="0" smtClean="0"/>
              <a:t> – один из наиболее распространенных способов оценки эффективности какой-либо деятельности. </a:t>
            </a:r>
          </a:p>
          <a:p>
            <a:r>
              <a:rPr lang="ru-RU" dirty="0" smtClean="0"/>
              <a:t>Его суть заключается в том, что 20% усилий дают 80% результата, а остальные 80% усилий реализуют лишь 20%. </a:t>
            </a:r>
          </a:p>
          <a:p>
            <a:r>
              <a:rPr lang="ru-RU" dirty="0" smtClean="0"/>
              <a:t>Таким образом, можно понять, что, выбрав те оптимальные ресурсы, которые дают наибольший эффект, можно достичь высоких результатов малыми издержками. В то же время последующие усилия будут ненужными и неэффективными.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 Принцип Парето в управлении временем достаточно прост:</a:t>
            </a:r>
          </a:p>
          <a:p>
            <a:r>
              <a:rPr lang="ru-RU" dirty="0" smtClean="0"/>
              <a:t> Вы анализируете все дела за день, и выбираете из них те, которые привели к конечному результату. Бесполезную активность просто вычеркиваете из списка дел.</a:t>
            </a:r>
          </a:p>
          <a:p>
            <a:r>
              <a:rPr lang="ru-RU" dirty="0" smtClean="0"/>
              <a:t> 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Этапы </a:t>
            </a:r>
            <a:r>
              <a:rPr lang="ru-RU" dirty="0" err="1" smtClean="0"/>
              <a:t>тайм-менеджмента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1. Постановка цели. Определение и формулировка цели (целей)</a:t>
            </a:r>
          </a:p>
          <a:p>
            <a:r>
              <a:rPr lang="ru-RU" dirty="0" smtClean="0"/>
              <a:t>2. Планирование и расстановка приоритетов. Разработка плана достижения целей и выделение приоритетных (первостепенных) задач.</a:t>
            </a:r>
          </a:p>
          <a:p>
            <a:r>
              <a:rPr lang="ru-RU" dirty="0" smtClean="0"/>
              <a:t>Реализация- конкретные шаги и действия с намеченным планом и порядком достижения цели.</a:t>
            </a:r>
          </a:p>
          <a:p>
            <a:r>
              <a:rPr lang="ru-RU" dirty="0" smtClean="0"/>
              <a:t>Контроль достижения цели и выполнения планов.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1.1.  Цели. Постановка целей.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Цель</a:t>
            </a:r>
            <a:r>
              <a:rPr lang="ru-RU" dirty="0" smtClean="0"/>
              <a:t>— идеальный или реальный предмет сознательного или бессознательного стремления субъекта; конечный результат, на который преднамеренно направлен процесс.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err="1" smtClean="0">
                <a:solidFill>
                  <a:srgbClr val="FF0000"/>
                </a:solidFill>
              </a:rPr>
              <a:t>Целеполагание</a:t>
            </a:r>
            <a:r>
              <a:rPr lang="ru-RU" dirty="0" smtClean="0"/>
              <a:t> – это определение, конструирование цели, формирование образа желаемого будущего. </a:t>
            </a:r>
          </a:p>
          <a:p>
            <a:pPr>
              <a:buNone/>
            </a:pPr>
            <a:r>
              <a:rPr lang="ru-RU" dirty="0" smtClean="0"/>
              <a:t>    Цели, особенно долгосрочные, формулируются на основе базовых ценностей.</a:t>
            </a:r>
          </a:p>
          <a:p>
            <a:pPr>
              <a:buNone/>
            </a:pPr>
            <a:r>
              <a:rPr lang="ru-RU" dirty="0" smtClean="0"/>
              <a:t>      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целей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 Долгосрочные от 5 лет</a:t>
            </a:r>
          </a:p>
          <a:p>
            <a:r>
              <a:rPr lang="ru-RU" dirty="0" smtClean="0"/>
              <a:t>Краткосрочные до 1,5 . Для краткосрочных целей характерна гораздо большая, чем для долгосрочных, конкретизация и детализация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Иерархия целей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Специфика иерархического выделения  целей в обусловлена тем, что:</a:t>
            </a:r>
          </a:p>
          <a:p>
            <a:r>
              <a:rPr lang="ru-RU" dirty="0" smtClean="0"/>
              <a:t>цели более высокого уровня всегда носят более широкий характер и имеют более долгосрочный временной интервал достижения;</a:t>
            </a:r>
          </a:p>
          <a:p>
            <a:r>
              <a:rPr lang="ru-RU" dirty="0" smtClean="0"/>
              <a:t>цели более низкого уровня выступают своего рода средствами для достижения целей более высокого уровня.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Техника SMART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9698" name="Picture 2" descr="Картинки по запросу цели smar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7" y="2276872"/>
            <a:ext cx="7632849" cy="43204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rgbClr val="0070C0"/>
                </a:solidFill>
              </a:rPr>
              <a:t>S - </a:t>
            </a:r>
            <a:r>
              <a:rPr lang="ru-RU" b="1" dirty="0" err="1" smtClean="0">
                <a:solidFill>
                  <a:srgbClr val="0070C0"/>
                </a:solidFill>
              </a:rPr>
              <a:t>specific</a:t>
            </a:r>
            <a:r>
              <a:rPr lang="ru-RU" b="1" dirty="0" smtClean="0">
                <a:solidFill>
                  <a:srgbClr val="0070C0"/>
                </a:solidFill>
              </a:rPr>
              <a:t>, </a:t>
            </a:r>
            <a:r>
              <a:rPr lang="ru-RU" b="1" dirty="0" err="1" smtClean="0">
                <a:solidFill>
                  <a:srgbClr val="0070C0"/>
                </a:solidFill>
              </a:rPr>
              <a:t>significant</a:t>
            </a:r>
            <a:r>
              <a:rPr lang="ru-RU" b="1" dirty="0" smtClean="0">
                <a:solidFill>
                  <a:srgbClr val="0070C0"/>
                </a:solidFill>
              </a:rPr>
              <a:t>, </a:t>
            </a:r>
            <a:r>
              <a:rPr lang="ru-RU" b="1" dirty="0" err="1" smtClean="0">
                <a:solidFill>
                  <a:srgbClr val="0070C0"/>
                </a:solidFill>
              </a:rPr>
              <a:t>stretching</a:t>
            </a:r>
            <a:r>
              <a:rPr lang="ru-RU" b="1" dirty="0" smtClean="0">
                <a:solidFill>
                  <a:srgbClr val="0070C0"/>
                </a:solidFill>
              </a:rPr>
              <a:t> - конкретная, значительная.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i="1" dirty="0" smtClean="0"/>
              <a:t>Поставленные цели должны быть понятными и точно выраженными.</a:t>
            </a:r>
            <a:endParaRPr lang="en-US" i="1" dirty="0" smtClean="0"/>
          </a:p>
          <a:p>
            <a:pPr>
              <a:buNone/>
            </a:pPr>
            <a:r>
              <a:rPr lang="en-US" dirty="0" smtClean="0"/>
              <a:t>    </a:t>
            </a:r>
            <a:r>
              <a:rPr lang="ru-RU" dirty="0" smtClean="0"/>
              <a:t>Когда цели конкретны, то они говорят вам о многом:</a:t>
            </a:r>
          </a:p>
          <a:p>
            <a:r>
              <a:rPr lang="ru-RU" dirty="0" smtClean="0"/>
              <a:t>что именно вы ждете;</a:t>
            </a:r>
          </a:p>
          <a:p>
            <a:r>
              <a:rPr lang="ru-RU" dirty="0" smtClean="0"/>
              <a:t>когда;</a:t>
            </a:r>
          </a:p>
          <a:p>
            <a:r>
              <a:rPr lang="ru-RU" dirty="0" smtClean="0"/>
              <a:t>сколько  (в чем выражается единица измерения).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M - </a:t>
            </a:r>
            <a:r>
              <a:rPr lang="ru-RU" b="1" dirty="0" err="1" smtClean="0"/>
              <a:t>measurable</a:t>
            </a:r>
            <a:r>
              <a:rPr lang="ru-RU" b="1" dirty="0" smtClean="0"/>
              <a:t>, </a:t>
            </a:r>
            <a:r>
              <a:rPr lang="ru-RU" b="1" dirty="0" err="1" smtClean="0"/>
              <a:t>meaningful</a:t>
            </a:r>
            <a:r>
              <a:rPr lang="ru-RU" b="1" dirty="0" smtClean="0"/>
              <a:t>, </a:t>
            </a:r>
            <a:r>
              <a:rPr lang="ru-RU" b="1" dirty="0" err="1" smtClean="0"/>
              <a:t>motivational</a:t>
            </a:r>
            <a:r>
              <a:rPr lang="ru-RU" b="1" dirty="0" smtClean="0"/>
              <a:t> - измеримая, значимая, мотивирующая.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Цель должна быть измеримой, причем критерии измерения должны быть не только по конечному результату, но и по промежуточному.</a:t>
            </a:r>
            <a:endParaRPr lang="en-US" dirty="0" smtClean="0"/>
          </a:p>
          <a:p>
            <a:endParaRPr lang="en-US" i="1" dirty="0" smtClean="0">
              <a:solidFill>
                <a:srgbClr val="FF0000"/>
              </a:solidFill>
            </a:endParaRPr>
          </a:p>
          <a:p>
            <a:r>
              <a:rPr lang="ru-RU" i="1" dirty="0" smtClean="0">
                <a:solidFill>
                  <a:srgbClr val="FF0000"/>
                </a:solidFill>
              </a:rPr>
              <a:t>Если цель неизмерима, вы никогда не сможете узнать, достигли вы ее или нет! 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400" b="1" dirty="0" smtClean="0"/>
              <a:t>A - </a:t>
            </a:r>
            <a:r>
              <a:rPr lang="ru-RU" sz="2400" b="1" dirty="0" err="1" smtClean="0"/>
              <a:t>attainable</a:t>
            </a:r>
            <a:r>
              <a:rPr lang="ru-RU" sz="2400" b="1" dirty="0" smtClean="0"/>
              <a:t>, </a:t>
            </a:r>
            <a:r>
              <a:rPr lang="ru-RU" sz="2400" b="1" dirty="0" err="1" smtClean="0"/>
              <a:t>agreed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upon</a:t>
            </a:r>
            <a:r>
              <a:rPr lang="ru-RU" sz="2400" b="1" dirty="0" smtClean="0"/>
              <a:t>, </a:t>
            </a:r>
            <a:r>
              <a:rPr lang="ru-RU" sz="2400" b="1" dirty="0" err="1" smtClean="0"/>
              <a:t>achievable</a:t>
            </a:r>
            <a:r>
              <a:rPr lang="ru-RU" sz="2400" b="1" dirty="0" smtClean="0"/>
              <a:t>, </a:t>
            </a:r>
            <a:r>
              <a:rPr lang="ru-RU" sz="2400" b="1" dirty="0" err="1" smtClean="0"/>
              <a:t>acceptable</a:t>
            </a:r>
            <a:r>
              <a:rPr lang="ru-RU" sz="2400" b="1" dirty="0" smtClean="0"/>
              <a:t>, </a:t>
            </a:r>
            <a:r>
              <a:rPr lang="ru-RU" sz="2400" b="1" dirty="0" err="1" smtClean="0"/>
              <a:t>action-oriented</a:t>
            </a:r>
            <a:r>
              <a:rPr lang="ru-RU" sz="2400" b="1" dirty="0" smtClean="0"/>
              <a:t> - достижимая, согласованная, ориентированная на конкретные действия.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i="1" dirty="0" smtClean="0">
                <a:solidFill>
                  <a:srgbClr val="FF0000"/>
                </a:solidFill>
              </a:rPr>
              <a:t>Цели должны быть реалистичными и достижимыми </a:t>
            </a:r>
            <a:r>
              <a:rPr lang="ru-RU" dirty="0" smtClean="0"/>
              <a:t>Необходимо адекватно оценивать ситуацию и понимать, что цель достижима с точки зрения внешних и внутренних ресурсов, которыми располагает организация/подразделение.</a:t>
            </a:r>
          </a:p>
          <a:p>
            <a:pPr algn="just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ru-RU" dirty="0" smtClean="0"/>
              <a:t>   Чересчур высокие или низкие цели обычно теряют свое значение</a:t>
            </a: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R- </a:t>
            </a:r>
            <a:r>
              <a:rPr lang="de-DE" dirty="0" smtClean="0"/>
              <a:t>Relevant (</a:t>
            </a:r>
            <a:r>
              <a:rPr lang="de-DE" dirty="0" err="1" smtClean="0"/>
              <a:t>realistic</a:t>
            </a:r>
            <a:r>
              <a:rPr lang="de-DE" dirty="0" smtClean="0"/>
              <a:t>) (</a:t>
            </a:r>
            <a:r>
              <a:rPr lang="ru-RU" dirty="0" smtClean="0"/>
              <a:t>Актуальный)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Определение истинности цели. Необходимо удостовериться, что выполнение данной задачи действительно необходимо. </a:t>
            </a:r>
          </a:p>
          <a:p>
            <a:r>
              <a:rPr lang="ru-RU" dirty="0" smtClean="0">
                <a:solidFill>
                  <a:srgbClr val="0070C0"/>
                </a:solidFill>
              </a:rPr>
              <a:t>Действительно ли выполнение данной задачи позволит достичь желаемой цели? </a:t>
            </a:r>
            <a:endParaRPr lang="ru-RU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dirty="0" smtClean="0"/>
              <a:t>T - </a:t>
            </a:r>
            <a:r>
              <a:rPr lang="ru-RU" sz="2800" b="1" dirty="0" err="1" smtClean="0"/>
              <a:t>time-based</a:t>
            </a:r>
            <a:r>
              <a:rPr lang="ru-RU" sz="2800" b="1" dirty="0" smtClean="0"/>
              <a:t>, </a:t>
            </a:r>
            <a:r>
              <a:rPr lang="ru-RU" sz="2800" b="1" dirty="0" err="1" smtClean="0"/>
              <a:t>timely</a:t>
            </a:r>
            <a:r>
              <a:rPr lang="ru-RU" sz="2800" b="1" dirty="0" smtClean="0"/>
              <a:t>, </a:t>
            </a:r>
            <a:r>
              <a:rPr lang="ru-RU" sz="2800" b="1" dirty="0" err="1" smtClean="0"/>
              <a:t>tangible</a:t>
            </a:r>
            <a:r>
              <a:rPr lang="ru-RU" sz="2800" b="1" dirty="0" smtClean="0"/>
              <a:t>, </a:t>
            </a:r>
            <a:r>
              <a:rPr lang="ru-RU" sz="2800" b="1" dirty="0" err="1" smtClean="0"/>
              <a:t>trackable</a:t>
            </a:r>
            <a:r>
              <a:rPr lang="ru-RU" sz="2800" b="1" dirty="0" smtClean="0"/>
              <a:t> - на определенный период, своевременная, отслеживаемая.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Срок или точный период выполнения - одна из главных составляющих цели. Она может иметь как фиксированную дату, так и охватывать определенный период.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Техника SMART чаще всего применяется для краткосрочных и среднесрочных целей (от нескольких недель до 1–1,5 лет). Чем дальше цель по времени и чем менее она очевидна, тем меньше возможность такой жесткой конкретизации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</p:nvPr>
        </p:nvGraphicFramePr>
        <p:xfrm>
          <a:off x="457200" y="1219200"/>
          <a:ext cx="8229600" cy="530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7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1229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24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Хочу поехать в Грецию</a:t>
                      </a:r>
                      <a:r>
                        <a:rPr kumimoji="0" lang="ru-RU" sz="2400" b="0" i="0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24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 отдых на 7 дней. Поселится хочу где-нибудь у моря в 5-звездочном отеле.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229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Пробыть хочу 5 дней. Потратить на дорогу не более 2-ух дней. По деньгам уложиться в 2000 евро.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229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2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Поехать хочу через пару месяцев. Время на сборы и финансы есть, поэтому цель достижима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1229"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Греция не луне. Добраться до туда можно. Цель реалистична.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1229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Хочу поехать до середины сентября этого года.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 Хронометраж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измерение затрат рабочего времени, затрачиваемых работником на выполнение отдельных трудовых операций с целью определения трудоемкости этих операций, работ. </a:t>
            </a: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Поглотители времени (</a:t>
            </a:r>
            <a:r>
              <a:rPr lang="ru-RU" dirty="0" err="1" smtClean="0"/>
              <a:t>хронофаги</a:t>
            </a:r>
            <a:r>
              <a:rPr lang="ru-RU" dirty="0" smtClean="0"/>
              <a:t>) – неэффективно организованные процессы, ведущие к потерям времени.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 smtClean="0"/>
              <a:t>Поглотители времени: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1. Нечеткая постановка цели. </a:t>
            </a:r>
          </a:p>
          <a:p>
            <a:r>
              <a:rPr lang="ru-RU" dirty="0" smtClean="0"/>
              <a:t>2. Отсутствие приоритетов в делах.</a:t>
            </a:r>
          </a:p>
          <a:p>
            <a:r>
              <a:rPr lang="ru-RU" dirty="0" smtClean="0"/>
              <a:t> 3. Попытки слишком много сделать за один раз.</a:t>
            </a:r>
          </a:p>
          <a:p>
            <a:r>
              <a:rPr lang="ru-RU" dirty="0" smtClean="0"/>
              <a:t> 4. Отсутствие представления о предстоящих задачах. </a:t>
            </a:r>
          </a:p>
          <a:p>
            <a:r>
              <a:rPr lang="ru-RU" dirty="0" smtClean="0"/>
              <a:t>5. Неправильное планирование дня. </a:t>
            </a:r>
          </a:p>
          <a:p>
            <a:r>
              <a:rPr lang="ru-RU" dirty="0" smtClean="0"/>
              <a:t>6. Интернет, компьютерные игры, чаты, форумы. </a:t>
            </a:r>
          </a:p>
          <a:p>
            <a:r>
              <a:rPr lang="ru-RU" dirty="0" smtClean="0"/>
              <a:t>7. Дорога. </a:t>
            </a:r>
          </a:p>
          <a:p>
            <a:r>
              <a:rPr lang="ru-RU" dirty="0" smtClean="0"/>
              <a:t>8. Недостаток мотивации. </a:t>
            </a:r>
          </a:p>
          <a:p>
            <a:r>
              <a:rPr lang="ru-RU" dirty="0" smtClean="0"/>
              <a:t>9. Телефонные звонки, отрывающие от дела. </a:t>
            </a:r>
          </a:p>
          <a:p>
            <a:r>
              <a:rPr lang="ru-RU" dirty="0" smtClean="0"/>
              <a:t>10. Неспособность сказать «нет». </a:t>
            </a:r>
          </a:p>
          <a:p>
            <a:r>
              <a:rPr lang="ru-RU" dirty="0" smtClean="0"/>
              <a:t>11 Отсутствие самодисциплины (частые перекуры, перерывы на чай, кофе). </a:t>
            </a:r>
          </a:p>
          <a:p>
            <a:r>
              <a:rPr lang="ru-RU" dirty="0" smtClean="0"/>
              <a:t>12. Неумение довести дело до конца.</a:t>
            </a:r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Техника хронометража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1. Фиксировать в течении дня все выполняемые работы</a:t>
            </a:r>
          </a:p>
          <a:p>
            <a:r>
              <a:rPr lang="ru-RU" dirty="0" smtClean="0"/>
              <a:t>2 Выбрать 1-2 ключевых показателя</a:t>
            </a:r>
            <a:r>
              <a:rPr lang="en-US" dirty="0" smtClean="0"/>
              <a:t> (</a:t>
            </a:r>
            <a:r>
              <a:rPr lang="ru-RU" dirty="0" smtClean="0"/>
              <a:t>уменьшить расходы времени или увеличить расходы времени)</a:t>
            </a:r>
          </a:p>
          <a:p>
            <a:r>
              <a:rPr lang="ru-RU" dirty="0" smtClean="0"/>
              <a:t>3.Отследить изменение показателя в динамике.</a:t>
            </a:r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Планирование. Инструменты планирования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b="1" dirty="0" smtClean="0"/>
              <a:t>Планирование</a:t>
            </a:r>
            <a:r>
              <a:rPr lang="ru-RU" dirty="0" smtClean="0"/>
              <a:t> — это вид деятельности, связанный с постановкой целей, задач и действий в будущем</a:t>
            </a:r>
          </a:p>
          <a:p>
            <a:endParaRPr lang="ru-RU" dirty="0"/>
          </a:p>
        </p:txBody>
      </p:sp>
      <p:pic>
        <p:nvPicPr>
          <p:cNvPr id="49154" name="Picture 2" descr="Картинки по запросу планировани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3501008"/>
            <a:ext cx="4691336" cy="25202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400" dirty="0" smtClean="0"/>
              <a:t>Планирование в самом общем виде подразумевает выполнение следующих этапов:</a:t>
            </a:r>
            <a:br>
              <a:rPr lang="ru-RU" sz="2400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sz="3200" dirty="0" smtClean="0"/>
              <a:t>Постановка целей и задач;</a:t>
            </a:r>
          </a:p>
          <a:p>
            <a:r>
              <a:rPr lang="ru-RU" sz="3200" dirty="0" smtClean="0"/>
              <a:t>Составление программы действий;</a:t>
            </a:r>
          </a:p>
          <a:p>
            <a:r>
              <a:rPr lang="ru-RU" sz="3200" dirty="0" smtClean="0"/>
              <a:t>Выявление необходимых ресурсов и источников.</a:t>
            </a:r>
          </a:p>
          <a:p>
            <a:endParaRPr lang="ru-RU" dirty="0"/>
          </a:p>
        </p:txBody>
      </p:sp>
      <p:pic>
        <p:nvPicPr>
          <p:cNvPr id="44034" name="Picture 2" descr="Картинки по запросу Результато -ориентированное планирование тайм менеджмент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2924944"/>
            <a:ext cx="5161905" cy="36997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1. Контекстное планирование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Контекстное планирование предполагает использование </a:t>
            </a:r>
            <a:r>
              <a:rPr lang="ru-RU" sz="3600" dirty="0" smtClean="0">
                <a:solidFill>
                  <a:srgbClr val="0070C0"/>
                </a:solidFill>
              </a:rPr>
              <a:t>гибких</a:t>
            </a:r>
            <a:r>
              <a:rPr lang="ru-RU" sz="3600" dirty="0" smtClean="0"/>
              <a:t> подходов к планированию </a:t>
            </a:r>
            <a:endParaRPr lang="ru-RU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 в </a:t>
            </a:r>
            <a:r>
              <a:rPr lang="ru-RU" dirty="0" err="1" smtClean="0"/>
              <a:t>тайм-менеджменте</a:t>
            </a:r>
            <a:r>
              <a:rPr lang="ru-RU" dirty="0" smtClean="0"/>
              <a:t> используются два разных понятия для обозначения времени.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Первое – «</a:t>
            </a:r>
            <a:r>
              <a:rPr lang="ru-RU" dirty="0" err="1" smtClean="0">
                <a:solidFill>
                  <a:srgbClr val="FF0000"/>
                </a:solidFill>
              </a:rPr>
              <a:t>хронос</a:t>
            </a:r>
            <a:r>
              <a:rPr lang="ru-RU" dirty="0" smtClean="0"/>
              <a:t>», привычное нам линейное, измеримое, механическое время. </a:t>
            </a:r>
          </a:p>
          <a:p>
            <a:pPr>
              <a:buNone/>
            </a:pPr>
            <a:r>
              <a:rPr lang="ru-RU" dirty="0" smtClean="0"/>
              <a:t>    Именно для его упорядочивания приспособлены обычные ежедневники и органайзеры, содержащие, как правило, жесткие задачи. </a:t>
            </a:r>
          </a:p>
          <a:p>
            <a:r>
              <a:rPr lang="ru-RU" i="1" dirty="0" smtClean="0"/>
              <a:t>Под жесткими задачами в данном случае понимаются – задачи, </a:t>
            </a:r>
            <a:r>
              <a:rPr lang="ru-RU" i="1" dirty="0" smtClean="0">
                <a:solidFill>
                  <a:srgbClr val="0070C0"/>
                </a:solidFill>
              </a:rPr>
              <a:t>привязанные</a:t>
            </a:r>
            <a:r>
              <a:rPr lang="ru-RU" i="1" dirty="0" smtClean="0"/>
              <a:t> к определенному времени</a:t>
            </a:r>
            <a:endParaRPr lang="ru-RU" i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Второе обозначение времени – «</a:t>
            </a:r>
            <a:r>
              <a:rPr lang="ru-RU" dirty="0" err="1" smtClean="0">
                <a:solidFill>
                  <a:srgbClr val="FF0000"/>
                </a:solidFill>
              </a:rPr>
              <a:t>кайрос</a:t>
            </a:r>
            <a:r>
              <a:rPr lang="ru-RU" dirty="0" smtClean="0"/>
              <a:t>», удобный момент; время, подходящее для осуществления конкретного замысла. </a:t>
            </a:r>
          </a:p>
          <a:p>
            <a:endParaRPr lang="ru-RU" dirty="0" smtClean="0"/>
          </a:p>
          <a:p>
            <a:r>
              <a:rPr lang="ru-RU" i="1" dirty="0" smtClean="0"/>
              <a:t>Гибкие задачи – </a:t>
            </a:r>
            <a:r>
              <a:rPr lang="ru-RU" i="1" dirty="0" err="1" smtClean="0"/>
              <a:t>задачи</a:t>
            </a:r>
            <a:r>
              <a:rPr lang="ru-RU" i="1" dirty="0" smtClean="0"/>
              <a:t>, </a:t>
            </a:r>
            <a:r>
              <a:rPr lang="ru-RU" i="1" dirty="0" smtClean="0">
                <a:solidFill>
                  <a:srgbClr val="0070C0"/>
                </a:solidFill>
              </a:rPr>
              <a:t>не привязанные </a:t>
            </a:r>
            <a:r>
              <a:rPr lang="ru-RU" i="1" dirty="0" smtClean="0"/>
              <a:t>жестко к определенному времени, а зависящие от контекста (условий и обстоятельств). </a:t>
            </a:r>
            <a:endParaRPr lang="ru-RU" i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476672"/>
            <a:ext cx="8229600" cy="5680288"/>
          </a:xfrm>
        </p:spPr>
        <p:txBody>
          <a:bodyPr/>
          <a:lstStyle/>
          <a:p>
            <a:r>
              <a:rPr lang="ru-RU" dirty="0" smtClean="0"/>
              <a:t>«</a:t>
            </a:r>
            <a:r>
              <a:rPr lang="ru-RU" dirty="0" err="1" smtClean="0"/>
              <a:t>Кайросы</a:t>
            </a:r>
            <a:r>
              <a:rPr lang="ru-RU" dirty="0" smtClean="0"/>
              <a:t>» ( удобные моменты) , создают то, что условно можно назвать неоднородностью времени. И речь идет не о конкретном времени (день, час, минуты), а об определенных обстоятельствах, благоприятных для совершения того или иного дела.</a:t>
            </a:r>
          </a:p>
          <a:p>
            <a:r>
              <a:rPr lang="ru-RU" dirty="0" smtClean="0"/>
              <a:t> </a:t>
            </a:r>
            <a:r>
              <a:rPr lang="ru-RU" i="1" dirty="0" smtClean="0"/>
              <a:t>Эти обстоятельства называются </a:t>
            </a:r>
            <a:r>
              <a:rPr lang="ru-RU" i="1" dirty="0" smtClean="0">
                <a:solidFill>
                  <a:srgbClr val="0070C0"/>
                </a:solidFill>
              </a:rPr>
              <a:t>контекстами</a:t>
            </a:r>
            <a:r>
              <a:rPr lang="ru-RU" i="1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b="1" i="1" dirty="0" smtClean="0">
                <a:solidFill>
                  <a:srgbClr val="0070C0"/>
                </a:solidFill>
              </a:rPr>
              <a:t>Контекст</a:t>
            </a:r>
            <a:r>
              <a:rPr lang="ru-RU" dirty="0" smtClean="0"/>
              <a:t> – это условие или совокупность условий, обстоятельств, наиболее подходящих для совершения определенного дела или решения конкретной задачи.</a:t>
            </a:r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Все контексты условно можно разделить на четыре группы: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1. Место. Решение задачи связано с определенным местом. </a:t>
            </a:r>
            <a:r>
              <a:rPr lang="ru-RU" i="1" dirty="0" smtClean="0">
                <a:solidFill>
                  <a:srgbClr val="0070C0"/>
                </a:solidFill>
              </a:rPr>
              <a:t>Примеры: «если буду в банке», «когда окажусь в офисе, дома» и др. </a:t>
            </a:r>
          </a:p>
          <a:p>
            <a:r>
              <a:rPr lang="ru-RU" i="1" dirty="0" smtClean="0"/>
              <a:t>2. Человек, группа людей. Решение задачи связано с человеком или группой людей. </a:t>
            </a:r>
            <a:r>
              <a:rPr lang="ru-RU" i="1" dirty="0" smtClean="0">
                <a:solidFill>
                  <a:srgbClr val="0070C0"/>
                </a:solidFill>
              </a:rPr>
              <a:t>Примеры: «если увижу партнера», «когда зайдет приятель» и др. </a:t>
            </a:r>
          </a:p>
          <a:p>
            <a:r>
              <a:rPr lang="ru-RU" i="1" dirty="0" smtClean="0"/>
              <a:t>3. Внешние обстоятельства. Принять решение возможно, учитывая не зависящие от человека обстоятельства. </a:t>
            </a:r>
            <a:r>
              <a:rPr lang="ru-RU" i="1" dirty="0" smtClean="0">
                <a:solidFill>
                  <a:srgbClr val="0070C0"/>
                </a:solidFill>
              </a:rPr>
              <a:t>Примеры: «если примут закон», «когда изменятся правила», «если установится хорошая погода» и т.д. </a:t>
            </a:r>
          </a:p>
          <a:p>
            <a:r>
              <a:rPr lang="ru-RU" i="1" dirty="0" smtClean="0"/>
              <a:t>4. Внутренние обстоятельства. Решение задачи, проблемы зависит от внутреннего состояния человека. </a:t>
            </a:r>
            <a:r>
              <a:rPr lang="ru-RU" i="1" dirty="0" smtClean="0">
                <a:solidFill>
                  <a:srgbClr val="0070C0"/>
                </a:solidFill>
              </a:rPr>
              <a:t>Примеры: «когда почувствую в себе силы», «если будет настроение» и т.д. </a:t>
            </a:r>
            <a:endParaRPr lang="ru-RU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*Вывод: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     Контекстное планирование – способность решить задачу без затрат лишних усилий в наиболее подходящее для этого время, не всегда предварительно заданное. </a:t>
            </a:r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Техника контекстного планирования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Шаг 1. Выделить типовые личные контексты (как правило их бывает от 5 до 9), наиболее актуальные для вашей повседневной жизни или рабочей деятельности. </a:t>
            </a:r>
          </a:p>
          <a:p>
            <a:r>
              <a:rPr lang="ru-RU" dirty="0" smtClean="0"/>
              <a:t>Шаг 2. Составить список задач под каждый контекст. Шаг 3. При приближении контекста просмотреть список соответствующих ему задач. </a:t>
            </a:r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 </a:t>
            </a:r>
            <a:r>
              <a:rPr lang="ru-RU" dirty="0" smtClean="0"/>
              <a:t>Матрица Эйзенхауэра.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Это техника расстановки приоритетов, использование которой позволяет выделить наиболее важные и существенные дела</a:t>
            </a:r>
            <a:endParaRPr lang="ru-RU" dirty="0"/>
          </a:p>
        </p:txBody>
      </p:sp>
      <p:sp>
        <p:nvSpPr>
          <p:cNvPr id="27650" name="AutoShape 2" descr="Картинки по запросу Эйзенхауэр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654" name="AutoShape 6" descr="Картинки по запросу Эйзенхауэр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7658" name="Picture 10" descr="Картинки по запросу Эйзенхауэ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2132856"/>
            <a:ext cx="3823692" cy="36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Матрица Эйзенхауэра.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2770" name="Picture 2" descr="Картинки по запросу матрица эйзенхауэра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9696" y="1219200"/>
            <a:ext cx="6768752" cy="44366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70C0"/>
                </a:solidFill>
              </a:rPr>
              <a:t>Задачи А. </a:t>
            </a:r>
            <a:r>
              <a:rPr lang="ru-RU" dirty="0" smtClean="0"/>
              <a:t>Важные и срочные. Критические ситуации, проекты, у которых подходят сроки сдачи. Выполняются без промедления. Зачастую, к таким делам относят кризисные явления, завершающиеся проекты, спущенные сверху неотложные задачи.</a:t>
            </a:r>
          </a:p>
          <a:p>
            <a:endParaRPr lang="ru-RU" dirty="0" smtClean="0"/>
          </a:p>
          <a:p>
            <a:r>
              <a:rPr lang="ru-RU" i="1" dirty="0" smtClean="0"/>
              <a:t>Наличие более одного дела из данной категории одновременно – показатель того, что в ближайшее время работа начнет отнимать дополнительное личное время.</a:t>
            </a:r>
            <a:endParaRPr lang="ru-RU" i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70C0"/>
                </a:solidFill>
              </a:rPr>
              <a:t>Задачи </a:t>
            </a:r>
            <a:r>
              <a:rPr lang="en-US" dirty="0" smtClean="0">
                <a:solidFill>
                  <a:srgbClr val="0070C0"/>
                </a:solidFill>
              </a:rPr>
              <a:t>B</a:t>
            </a:r>
            <a:r>
              <a:rPr lang="ru-RU" dirty="0" smtClean="0">
                <a:solidFill>
                  <a:srgbClr val="0070C0"/>
                </a:solidFill>
              </a:rPr>
              <a:t>. </a:t>
            </a:r>
            <a:r>
              <a:rPr lang="ru-RU" dirty="0" smtClean="0"/>
              <a:t>Важные и несрочные. Стратегическое планирование, оценка полученных результатов. Для задач данного типа устанавливаются временные рамки.</a:t>
            </a:r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70C0"/>
                </a:solidFill>
              </a:rPr>
              <a:t>Задачи </a:t>
            </a:r>
            <a:r>
              <a:rPr lang="en-US" dirty="0" smtClean="0">
                <a:solidFill>
                  <a:srgbClr val="0070C0"/>
                </a:solidFill>
              </a:rPr>
              <a:t>C</a:t>
            </a:r>
            <a:r>
              <a:rPr lang="ru-RU" dirty="0" smtClean="0">
                <a:solidFill>
                  <a:srgbClr val="0070C0"/>
                </a:solidFill>
              </a:rPr>
              <a:t>.</a:t>
            </a:r>
            <a:r>
              <a:rPr lang="ru-RU" dirty="0" smtClean="0"/>
              <a:t> Неважные и срочные. Спонтанные просьбы и поручения, не относящиеся к вашим непосредственным обязанностям.</a:t>
            </a:r>
          </a:p>
          <a:p>
            <a:endParaRPr lang="ru-RU" dirty="0" smtClean="0"/>
          </a:p>
          <a:p>
            <a:r>
              <a:rPr lang="ru-RU" i="1" dirty="0" smtClean="0"/>
              <a:t>Подобные дела необходимо перепоручать в обязательном порядке и ни в коем случае не заниматься ими самому.</a:t>
            </a:r>
            <a:endParaRPr lang="ru-RU" i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70C0"/>
                </a:solidFill>
              </a:rPr>
              <a:t>Задачи </a:t>
            </a:r>
            <a:r>
              <a:rPr lang="en-US" dirty="0" smtClean="0">
                <a:solidFill>
                  <a:srgbClr val="0070C0"/>
                </a:solidFill>
              </a:rPr>
              <a:t>D</a:t>
            </a:r>
            <a:r>
              <a:rPr lang="ru-RU" dirty="0" smtClean="0">
                <a:solidFill>
                  <a:srgbClr val="0070C0"/>
                </a:solidFill>
              </a:rPr>
              <a:t>. </a:t>
            </a:r>
            <a:r>
              <a:rPr lang="ru-RU" dirty="0" smtClean="0"/>
              <a:t>Неважные и несрочные. Мелочи, отнимающие время (рутинная работа, «пустая болтовня» и другие «поглотители времени»). Необходимо стремиться устранить такие дела из своей жизни.</a:t>
            </a:r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</a:t>
            </a:r>
            <a:r>
              <a:rPr lang="de-DE" dirty="0" smtClean="0"/>
              <a:t>. </a:t>
            </a:r>
            <a:r>
              <a:rPr lang="de-DE" dirty="0" err="1" smtClean="0"/>
              <a:t>Pomodoro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 Метод, разработанный </a:t>
            </a:r>
          </a:p>
          <a:p>
            <a:pPr>
              <a:buNone/>
            </a:pPr>
            <a:r>
              <a:rPr lang="ru-RU" dirty="0" smtClean="0"/>
              <a:t>в 1992 г. итальянским студентом </a:t>
            </a:r>
          </a:p>
          <a:p>
            <a:pPr>
              <a:buNone/>
            </a:pPr>
            <a:r>
              <a:rPr lang="ru-RU" dirty="0" err="1" smtClean="0"/>
              <a:t>Франческо</a:t>
            </a:r>
            <a:r>
              <a:rPr lang="ru-RU" dirty="0" smtClean="0"/>
              <a:t> </a:t>
            </a:r>
            <a:r>
              <a:rPr lang="ru-RU" dirty="0" err="1" smtClean="0"/>
              <a:t>Чирилло</a:t>
            </a:r>
            <a:endParaRPr lang="ru-RU" dirty="0"/>
          </a:p>
        </p:txBody>
      </p:sp>
      <p:pic>
        <p:nvPicPr>
          <p:cNvPr id="36866" name="Picture 2" descr="Картинки по запросу таймер в виде помидора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692696"/>
            <a:ext cx="3563888" cy="41044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Автор использовал кухонный таймер в форме помидора, для измерения промежутков времени. </a:t>
            </a:r>
            <a:r>
              <a:rPr lang="ru-RU" dirty="0" err="1" smtClean="0"/>
              <a:t>Франческо</a:t>
            </a:r>
            <a:r>
              <a:rPr lang="ru-RU" dirty="0" smtClean="0"/>
              <a:t> решил «разбить» свой рабочий процесс на 25-минутные периоды — «</a:t>
            </a:r>
            <a:r>
              <a:rPr lang="ru-RU" dirty="0" err="1" smtClean="0"/>
              <a:t>pomodoros</a:t>
            </a:r>
            <a:r>
              <a:rPr lang="ru-RU" dirty="0" smtClean="0"/>
              <a:t>». </a:t>
            </a:r>
          </a:p>
          <a:p>
            <a:r>
              <a:rPr lang="ru-RU" dirty="0" smtClean="0"/>
              <a:t>На каждые 25 минут он запланировал решение конкретной задачи, например, для беглого ознакомления с текстом учебной лекции он решил отводить 1 “помидор”, для более детального изучения — 2 “помидора” и т.д. </a:t>
            </a:r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Использование техники «</a:t>
            </a:r>
            <a:r>
              <a:rPr lang="ru-RU" dirty="0" err="1" smtClean="0"/>
              <a:t>Pomodoro</a:t>
            </a:r>
            <a:r>
              <a:rPr lang="ru-RU" dirty="0" smtClean="0"/>
              <a:t>» наряду с грамотным планированием, расстановкой приоритетов и ведении хронометража позволяет быть на максимуме своей эффективности и не перегружать себя. 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Принятие решений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/>
              <a:t>- это акт формирования последовательности действий, ведущих к достижению цели на основе преобразования исходной информации в ситуации неопределенности. 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решений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Стратегические </a:t>
            </a:r>
          </a:p>
          <a:p>
            <a:r>
              <a:rPr lang="ru-RU" sz="3600" dirty="0" smtClean="0"/>
              <a:t>Оперативные </a:t>
            </a:r>
            <a:endParaRPr lang="ru-RU" sz="3600" dirty="0"/>
          </a:p>
        </p:txBody>
      </p:sp>
      <p:pic>
        <p:nvPicPr>
          <p:cNvPr id="52226" name="Picture 2" descr="Похожее изображени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3140968"/>
            <a:ext cx="38100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Принятие стратегических решений имеет характер проектировочной деятельности, реализуемой в будущем.</a:t>
            </a:r>
          </a:p>
          <a:p>
            <a:pPr algn="just"/>
            <a:r>
              <a:rPr lang="ru-RU" dirty="0" smtClean="0"/>
              <a:t>Принятие оперативных решений — в большей степени волевой и поведенческий акт, когда решение зачастую является мгновенным ответом на давление внешних обстоятельств и практически сразу воплощается в конкретных поступках</a:t>
            </a:r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Основными особенностями стратегических решений являются следующие: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/>
              <a:t>Так как стратегические решения связаны с долгосрочным </a:t>
            </a:r>
            <a:r>
              <a:rPr lang="ru-RU" dirty="0" err="1" smtClean="0"/>
              <a:t>целеполаганием</a:t>
            </a:r>
            <a:r>
              <a:rPr lang="ru-RU" dirty="0" smtClean="0"/>
              <a:t> и планированием, то их принятие требует значительно больших затрат времени на обдумывание и подготовку</a:t>
            </a:r>
          </a:p>
          <a:p>
            <a:pPr algn="just"/>
            <a:r>
              <a:rPr lang="ru-RU" dirty="0" smtClean="0"/>
              <a:t>Стратегические решения должны приниматься комплексно с учетом всей системы взаимосвязей, существующих между долгосрочными целями, чтобы обеспечить надлежащее качество </a:t>
            </a:r>
            <a:r>
              <a:rPr lang="ru-RU" dirty="0" err="1" smtClean="0"/>
              <a:t>целеполагания</a:t>
            </a:r>
            <a:endParaRPr lang="ru-RU" dirty="0" smtClean="0"/>
          </a:p>
          <a:p>
            <a:pPr algn="just"/>
            <a:r>
              <a:rPr lang="ru-RU" dirty="0" smtClean="0"/>
              <a:t>Принятие стратегических решений требует от человека максимальной вовлеченности</a:t>
            </a:r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Принятие оперативных решений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Принятие оперативных решений должно занимать как можно меньше времени.</a:t>
            </a:r>
          </a:p>
          <a:p>
            <a:pPr algn="just"/>
            <a:r>
              <a:rPr lang="ru-RU" dirty="0" smtClean="0"/>
              <a:t>Если в стратегических решениях самым главным является их качество, то в оперативных решениях всегда приходится идти на компромисс, выбирая некое доступное соотношение быстроты и качества решения</a:t>
            </a:r>
          </a:p>
          <a:p>
            <a:pPr algn="just"/>
            <a:r>
              <a:rPr lang="ru-RU" dirty="0" smtClean="0"/>
              <a:t>Важно, чтобы принятие оперативных решений было связано с малой вовлеченностью</a:t>
            </a:r>
            <a:endParaRPr lang="ru-RU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Техника принятия решений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ru-RU" sz="1800" b="1" dirty="0" smtClean="0"/>
              <a:t>Определение цели, к которой должно привести решение.</a:t>
            </a:r>
            <a:r>
              <a:rPr lang="ru-RU" sz="1800" dirty="0" smtClean="0"/>
              <a:t> </a:t>
            </a:r>
            <a:r>
              <a:rPr lang="ru-RU" sz="1800" dirty="0" smtClean="0">
                <a:solidFill>
                  <a:srgbClr val="002060"/>
                </a:solidFill>
              </a:rPr>
              <a:t>Какую именно проблему вы хотите решить? Для чего ее нужно решить</a:t>
            </a:r>
          </a:p>
          <a:p>
            <a:r>
              <a:rPr lang="ru-RU" sz="1800" b="1" dirty="0" smtClean="0"/>
              <a:t>Собор  информации.</a:t>
            </a:r>
            <a:r>
              <a:rPr lang="ru-RU" sz="1800" dirty="0" smtClean="0"/>
              <a:t> </a:t>
            </a:r>
            <a:r>
              <a:rPr lang="ru-RU" sz="1800" dirty="0" smtClean="0">
                <a:solidFill>
                  <a:srgbClr val="002060"/>
                </a:solidFill>
              </a:rPr>
              <a:t>Какие факторы включает в себя проблема?</a:t>
            </a:r>
          </a:p>
          <a:p>
            <a:r>
              <a:rPr lang="ru-RU" sz="1800" b="1" dirty="0" smtClean="0"/>
              <a:t>Определение принципов, по которым будет выбираться одна из альтернатив.</a:t>
            </a:r>
            <a:r>
              <a:rPr lang="ru-RU" sz="1800" dirty="0" smtClean="0"/>
              <a:t> </a:t>
            </a:r>
            <a:r>
              <a:rPr lang="ru-RU" sz="1800" dirty="0" smtClean="0">
                <a:solidFill>
                  <a:srgbClr val="002060"/>
                </a:solidFill>
              </a:rPr>
              <a:t>Каким стандартам и критериям должно соответствовать ваше решение?</a:t>
            </a:r>
          </a:p>
          <a:p>
            <a:r>
              <a:rPr lang="ru-RU" sz="1800" b="1" dirty="0" smtClean="0"/>
              <a:t>Анализ вариантов и доступных альтернатив.</a:t>
            </a:r>
            <a:r>
              <a:rPr lang="ru-RU" sz="1800" dirty="0" smtClean="0"/>
              <a:t> </a:t>
            </a:r>
            <a:r>
              <a:rPr lang="ru-RU" sz="1800" dirty="0" smtClean="0">
                <a:solidFill>
                  <a:srgbClr val="002060"/>
                </a:solidFill>
              </a:rPr>
              <a:t>(варианты действий)</a:t>
            </a:r>
            <a:r>
              <a:rPr lang="ru-RU" sz="1800" dirty="0" smtClean="0"/>
              <a:t>.</a:t>
            </a:r>
          </a:p>
          <a:p>
            <a:r>
              <a:rPr lang="ru-RU" sz="1800" b="1" dirty="0" smtClean="0"/>
              <a:t>Оценка каждого из вариантов.</a:t>
            </a:r>
            <a:r>
              <a:rPr lang="ru-RU" sz="1800" dirty="0" smtClean="0"/>
              <a:t> </a:t>
            </a:r>
            <a:r>
              <a:rPr lang="ru-RU" sz="1800" dirty="0" smtClean="0">
                <a:solidFill>
                  <a:srgbClr val="002060"/>
                </a:solidFill>
              </a:rPr>
              <a:t>Использование своих стандартов и критериев, чтобы определить плюсы и минусы каждой альтернативы.</a:t>
            </a:r>
          </a:p>
          <a:p>
            <a:r>
              <a:rPr lang="ru-RU" sz="1800" b="1" dirty="0" smtClean="0"/>
              <a:t>Определение наилучшего способа действий.</a:t>
            </a:r>
            <a:r>
              <a:rPr lang="ru-RU" sz="1800" dirty="0" smtClean="0"/>
              <a:t> ( </a:t>
            </a:r>
            <a:r>
              <a:rPr lang="ru-RU" sz="1800" dirty="0" smtClean="0">
                <a:solidFill>
                  <a:srgbClr val="002060"/>
                </a:solidFill>
              </a:rPr>
              <a:t>при качественном анализе этот этап прост в исполнении) </a:t>
            </a:r>
          </a:p>
          <a:p>
            <a:r>
              <a:rPr lang="ru-RU" sz="1800" b="1" dirty="0" smtClean="0"/>
              <a:t>Воплощение решения в жизнь.</a:t>
            </a:r>
            <a:r>
              <a:rPr lang="ru-RU" sz="1800" dirty="0" smtClean="0"/>
              <a:t> </a:t>
            </a:r>
            <a:r>
              <a:rPr lang="ru-RU" sz="1800" dirty="0" smtClean="0">
                <a:solidFill>
                  <a:srgbClr val="002060"/>
                </a:solidFill>
              </a:rPr>
              <a:t>Составление четкого плана последующих действий на основании своего решения и воплощение его в реальность.</a:t>
            </a:r>
          </a:p>
          <a:p>
            <a:r>
              <a:rPr lang="ru-RU" sz="1800" b="1" dirty="0" smtClean="0"/>
              <a:t>Оценка результата своего решения и предпринятых действий.</a:t>
            </a:r>
            <a:r>
              <a:rPr lang="ru-RU" sz="1800" dirty="0" smtClean="0"/>
              <a:t> </a:t>
            </a:r>
            <a:r>
              <a:rPr lang="ru-RU" sz="1800" dirty="0" smtClean="0">
                <a:solidFill>
                  <a:srgbClr val="002060"/>
                </a:solidFill>
              </a:rPr>
              <a:t>Какие уроки могут быть извлечены? Это очень важный шаг для дальнейшего развития ваших навыков принятия решений и их оценки.</a:t>
            </a:r>
            <a:r>
              <a:rPr lang="ru-RU" sz="1800" dirty="0" smtClean="0"/>
              <a:t/>
            </a:r>
            <a:br>
              <a:rPr lang="ru-RU" sz="1800" dirty="0" smtClean="0"/>
            </a:br>
            <a:endParaRPr lang="ru-RU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2.Обзор задач и его роль в принятии решений.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Обзор – наглядное представление информации (задач, сроков, справочных данных и т.д.), позволяющее легко видеть всю совокупность и взаимосвязь элементов и дающее возможность эффективно принимать решения.</a:t>
            </a:r>
            <a:endParaRPr lang="ru-RU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Эффективный обзор - как </a:t>
            </a:r>
          </a:p>
          <a:p>
            <a:pPr>
              <a:buNone/>
            </a:pPr>
            <a:r>
              <a:rPr lang="ru-RU" dirty="0" smtClean="0"/>
              <a:t>своеобразная карта, на которой</a:t>
            </a:r>
          </a:p>
          <a:p>
            <a:pPr>
              <a:buNone/>
            </a:pPr>
            <a:r>
              <a:rPr lang="ru-RU" dirty="0" smtClean="0"/>
              <a:t>есть все ориентиры и мелкие </a:t>
            </a:r>
          </a:p>
          <a:p>
            <a:pPr>
              <a:buNone/>
            </a:pPr>
            <a:r>
              <a:rPr lang="ru-RU" dirty="0" smtClean="0"/>
              <a:t>задачи.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Помогает увидеть всю картину целиком и выбирать оптимальные направления движения</a:t>
            </a:r>
            <a:endParaRPr lang="ru-RU" dirty="0"/>
          </a:p>
        </p:txBody>
      </p:sp>
      <p:pic>
        <p:nvPicPr>
          <p:cNvPr id="28674" name="Picture 2" descr="Картинки по запросу карта древня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0"/>
            <a:ext cx="4139952" cy="42930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Группы инструментов обзора в тайм - менеджменте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ru-RU" sz="4800" dirty="0" smtClean="0"/>
          </a:p>
          <a:p>
            <a:r>
              <a:rPr lang="ru-RU" sz="3200" dirty="0" smtClean="0"/>
              <a:t>Двумерные графики</a:t>
            </a:r>
          </a:p>
          <a:p>
            <a:r>
              <a:rPr lang="ru-RU" sz="3200" dirty="0" smtClean="0"/>
              <a:t>Технология </a:t>
            </a:r>
            <a:r>
              <a:rPr lang="ru-RU" sz="3200" dirty="0" err="1" smtClean="0"/>
              <a:t>майнд-менеджмента</a:t>
            </a:r>
            <a:r>
              <a:rPr lang="ru-RU" sz="3200" dirty="0" smtClean="0"/>
              <a:t> с использованием </a:t>
            </a:r>
            <a:r>
              <a:rPr lang="ru-RU" sz="3200" dirty="0" err="1" smtClean="0"/>
              <a:t>интеллект-карт</a:t>
            </a:r>
            <a:endParaRPr lang="ru-RU" sz="3200" dirty="0" smtClean="0"/>
          </a:p>
          <a:p>
            <a:endParaRPr lang="ru-RU" sz="4800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Генри Л. </a:t>
            </a:r>
            <a:r>
              <a:rPr lang="ru-RU" dirty="0" err="1" smtClean="0"/>
              <a:t>Гант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 smtClean="0"/>
              <a:t>американский</a:t>
            </a:r>
          </a:p>
          <a:p>
            <a:pPr>
              <a:buNone/>
            </a:pPr>
            <a:r>
              <a:rPr lang="ru-RU" dirty="0" smtClean="0"/>
              <a:t>инженер Генри Л. </a:t>
            </a:r>
            <a:r>
              <a:rPr lang="ru-RU" dirty="0" err="1" smtClean="0"/>
              <a:t>Гант</a:t>
            </a: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В 1910 г.  разработал график </a:t>
            </a:r>
          </a:p>
          <a:p>
            <a:pPr>
              <a:buNone/>
            </a:pPr>
            <a:r>
              <a:rPr lang="ru-RU" dirty="0" smtClean="0"/>
              <a:t>планирования производства на судоверфях</a:t>
            </a:r>
          </a:p>
          <a:p>
            <a:pPr>
              <a:buNone/>
            </a:pPr>
            <a:r>
              <a:rPr lang="ru-RU" b="1" dirty="0" smtClean="0"/>
              <a:t>Диаграмма </a:t>
            </a:r>
            <a:r>
              <a:rPr lang="ru-RU" b="1" dirty="0" err="1" smtClean="0"/>
              <a:t>Ганта</a:t>
            </a:r>
            <a:r>
              <a:rPr lang="ru-RU" b="1" dirty="0" smtClean="0"/>
              <a:t>, </a:t>
            </a:r>
            <a:r>
              <a:rPr lang="ru-RU" b="1" dirty="0" err="1" smtClean="0"/>
              <a:t>Gant</a:t>
            </a:r>
            <a:r>
              <a:rPr lang="ru-RU" b="1" dirty="0" smtClean="0"/>
              <a:t> </a:t>
            </a:r>
            <a:r>
              <a:rPr lang="ru-RU" b="1" dirty="0" err="1" smtClean="0"/>
              <a:t>chart</a:t>
            </a:r>
            <a:r>
              <a:rPr lang="ru-RU" b="1" dirty="0" smtClean="0"/>
              <a:t>, ленточная диаграмма, график </a:t>
            </a:r>
            <a:r>
              <a:rPr lang="ru-RU" b="1" dirty="0" err="1" smtClean="0"/>
              <a:t>Ганта</a:t>
            </a:r>
            <a:r>
              <a:rPr lang="ru-RU" b="1" dirty="0" smtClean="0"/>
              <a:t> </a:t>
            </a:r>
            <a:r>
              <a:rPr lang="ru-RU" dirty="0" smtClean="0"/>
              <a:t>- это популярный тип столбчатых диаграмм (гистограмм), который используется для иллюстрации графика работ по какому-либо проекту. </a:t>
            </a:r>
          </a:p>
          <a:p>
            <a:pPr>
              <a:buNone/>
            </a:pPr>
            <a:r>
              <a:rPr lang="ru-RU" dirty="0" smtClean="0"/>
              <a:t>Является одним из методов планирования проектов. </a:t>
            </a:r>
          </a:p>
          <a:p>
            <a:endParaRPr lang="ru-RU" dirty="0"/>
          </a:p>
        </p:txBody>
      </p:sp>
      <p:pic>
        <p:nvPicPr>
          <p:cNvPr id="36866" name="Picture 2" descr="Картинки по запросу генри гантт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620688"/>
            <a:ext cx="2686050" cy="31623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Ключевым понятием диаграммы </a:t>
            </a:r>
            <a:r>
              <a:rPr lang="ru-RU" dirty="0" err="1" smtClean="0"/>
              <a:t>Ганта</a:t>
            </a:r>
            <a:r>
              <a:rPr lang="ru-RU" dirty="0" smtClean="0"/>
              <a:t> является «Веха» — метка значимого момента в ходе выполнения работ, общая граница двух или более задач. </a:t>
            </a:r>
          </a:p>
          <a:p>
            <a:r>
              <a:rPr lang="ru-RU" dirty="0" smtClean="0"/>
              <a:t>Вехи позволяют наглядно отобразить необходимость синхронизации, последовательности в выполнении различных работ. </a:t>
            </a:r>
          </a:p>
          <a:p>
            <a:r>
              <a:rPr lang="ru-RU" dirty="0" smtClean="0"/>
              <a:t>Сдвиг вехи приводит к сдвигу всего проекта</a:t>
            </a:r>
            <a:endParaRPr lang="ru-RU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Суть инструмента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Использование двумерного обзорного графика помогает осуществлять гибкое планирование задач со сложной структурой, имеющих вполне определенные сроки исполнения. </a:t>
            </a:r>
          </a:p>
          <a:p>
            <a:pPr>
              <a:buNone/>
            </a:pPr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Правила создания двумерного обзорного графика: </a:t>
            </a:r>
          </a:p>
          <a:p>
            <a:r>
              <a:rPr lang="ru-RU" dirty="0" smtClean="0"/>
              <a:t>• Крупная  задача или проект разбивается на подзадачи, которые записываем в левой колонке таблицы. Подзадачи записываем в произвольном порядке так же, как для составления контрольного списка. </a:t>
            </a:r>
          </a:p>
          <a:p>
            <a:r>
              <a:rPr lang="ru-RU" dirty="0" smtClean="0"/>
              <a:t>• Вводится второе измерение – время (календарные даты, дни, недели и т.д.). Например, проект рассчитан на год, следовательно, в качестве временного измерителя будут использоваться месяцы.</a:t>
            </a:r>
            <a:endParaRPr lang="ru-RU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 помощью горизонтальных полосок или штрихования ячеек вдоль оси времени осуществляется привязка подзадач к срокам исполнения.</a:t>
            </a:r>
          </a:p>
          <a:p>
            <a:r>
              <a:rPr lang="ru-RU" dirty="0" smtClean="0"/>
              <a:t> Наибольшей наглядности можно достичь, используя различные цвета для разных задач.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Похожее изображени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60648"/>
            <a:ext cx="8280920" cy="59915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3794" name="Picture 2" descr="Картинки по запросу двумерные графики тайм менеджмент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1740" y="1700808"/>
            <a:ext cx="4680520" cy="353988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i="1" u="sng" dirty="0" smtClean="0"/>
              <a:t>Преимущества двумерного графика как инструмента обзора:</a:t>
            </a:r>
            <a:endParaRPr lang="ru-RU" dirty="0" smtClean="0"/>
          </a:p>
          <a:p>
            <a:r>
              <a:rPr lang="ru-RU" dirty="0" smtClean="0"/>
              <a:t>·     Дает наглядное представление о структуре сложной задачи.</a:t>
            </a:r>
          </a:p>
          <a:p>
            <a:r>
              <a:rPr lang="ru-RU" dirty="0" smtClean="0"/>
              <a:t>·     Обеспечивает четкий обзор всех подзадач.</a:t>
            </a:r>
          </a:p>
          <a:p>
            <a:r>
              <a:rPr lang="ru-RU" dirty="0" smtClean="0"/>
              <a:t>·     Дает четкий обзор привязки подзадач к срокам исполнения.</a:t>
            </a:r>
          </a:p>
          <a:p>
            <a:r>
              <a:rPr lang="ru-RU" dirty="0" smtClean="0"/>
              <a:t>·     Отражает взаимосвязи задач между собой, что немаловажно при работе над крупными проектами, так как нарушение этих взаимосвязей чаще всего и приводит к срыву сроков.</a:t>
            </a:r>
          </a:p>
          <a:p>
            <a:r>
              <a:rPr lang="ru-RU" dirty="0" smtClean="0"/>
              <a:t>·     Позволяет осуществлять контроль делегированных задач, отслеживать работу исполнителей.</a:t>
            </a:r>
          </a:p>
          <a:p>
            <a:r>
              <a:rPr lang="ru-RU" dirty="0" smtClean="0"/>
              <a:t>·     Гарантирует управляемость работы над сложной задачей.</a:t>
            </a:r>
          </a:p>
          <a:p>
            <a:r>
              <a:rPr lang="ru-RU" dirty="0" smtClean="0"/>
              <a:t>·     Дает возможность укладываться в сроки.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700" b="1" i="1" dirty="0" smtClean="0"/>
              <a:t>Технология </a:t>
            </a:r>
            <a:r>
              <a:rPr lang="ru-RU" sz="2700" b="1" i="1" dirty="0" err="1" smtClean="0"/>
              <a:t>майнд-менеджмента</a:t>
            </a:r>
            <a:r>
              <a:rPr lang="ru-RU" sz="2700" b="1" i="1" dirty="0" smtClean="0"/>
              <a:t> с использованием </a:t>
            </a:r>
            <a:r>
              <a:rPr lang="ru-RU" sz="2700" b="1" i="1" dirty="0" err="1" smtClean="0"/>
              <a:t>интеллект-карт</a:t>
            </a:r>
            <a:r>
              <a:rPr lang="ru-RU" b="1" i="1" dirty="0" smtClean="0"/>
              <a:t/>
            </a:r>
            <a:br>
              <a:rPr lang="ru-RU" b="1" i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b="1" dirty="0" err="1" smtClean="0"/>
              <a:t>Майнд-менеджмент</a:t>
            </a:r>
            <a:r>
              <a:rPr lang="ru-RU" dirty="0" smtClean="0"/>
              <a:t> – это технология представления потоков информации в виде, требующем минимального времени и психофизиологических ресурсов для ее поиска, анализа и понимания.</a:t>
            </a:r>
          </a:p>
          <a:p>
            <a:pPr algn="just"/>
            <a:endParaRPr lang="ru-RU" dirty="0" smtClean="0"/>
          </a:p>
          <a:p>
            <a:pPr algn="just"/>
            <a:r>
              <a:rPr lang="ru-RU" dirty="0" smtClean="0"/>
              <a:t>Подобная технология позволяет существенно повышать эффективность решения интеллектуальных задач</a:t>
            </a:r>
            <a:endParaRPr lang="ru-RU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Тони </a:t>
            </a:r>
            <a:r>
              <a:rPr lang="ru-RU" dirty="0" err="1" smtClean="0"/>
              <a:t>Бьюзен</a:t>
            </a:r>
            <a:r>
              <a:rPr lang="ru-RU" dirty="0" smtClean="0"/>
              <a:t> -  психолог, писатель</a:t>
            </a:r>
          </a:p>
          <a:p>
            <a:pPr>
              <a:buNone/>
            </a:pPr>
            <a:r>
              <a:rPr lang="ru-RU" dirty="0" smtClean="0"/>
              <a:t> консультант  по вопросам интеллекта.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b="1" i="1" dirty="0" smtClean="0"/>
              <a:t>Основная  идея </a:t>
            </a:r>
            <a:r>
              <a:rPr lang="ru-RU" b="1" i="1" dirty="0" err="1" smtClean="0"/>
              <a:t>интеллект-карт</a:t>
            </a:r>
            <a:r>
              <a:rPr lang="ru-RU" b="1" i="1" dirty="0" smtClean="0"/>
              <a:t>: организация работы с информацией с максимальным использованием возможностей мозга.</a:t>
            </a:r>
            <a:endParaRPr lang="ru-RU" dirty="0"/>
          </a:p>
        </p:txBody>
      </p:sp>
      <p:pic>
        <p:nvPicPr>
          <p:cNvPr id="41986" name="Picture 2" descr="Картинки по запросу Тони Бьюзен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260648"/>
            <a:ext cx="285750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b="1" i="1" dirty="0" smtClean="0"/>
              <a:t>Интеллект-карта</a:t>
            </a:r>
            <a:r>
              <a:rPr lang="ru-RU" dirty="0" smtClean="0"/>
              <a:t> – это наиболее эффективный и простой способ организации мыслительной деятельности, основанный на использовании комбинированных записей (рисунков, слов, символов, линий).</a:t>
            </a:r>
            <a:endParaRPr lang="ru-RU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 smtClean="0"/>
              <a:t>Правила создания </a:t>
            </a:r>
            <a:r>
              <a:rPr lang="ru-RU" b="1" i="1" dirty="0" err="1" smtClean="0"/>
              <a:t>Интеллект-карт</a:t>
            </a:r>
            <a:r>
              <a:rPr lang="ru-RU" b="1" i="1" dirty="0" smtClean="0"/>
              <a:t>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рождение идеи → мозговой штурм → структурирование и анализ информации (создание </a:t>
            </a:r>
            <a:r>
              <a:rPr lang="ru-RU" dirty="0" err="1" smtClean="0"/>
              <a:t>интеллект-карты</a:t>
            </a:r>
            <a:r>
              <a:rPr lang="ru-RU" dirty="0" smtClean="0"/>
              <a:t>) → действие → результат. </a:t>
            </a:r>
            <a:endParaRPr lang="ru-RU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Правила построения </a:t>
            </a:r>
            <a:r>
              <a:rPr lang="ru-RU" dirty="0" err="1" smtClean="0"/>
              <a:t>интеллект-карт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 Начинать нужно с центра и далее двигаться по часовой стрелке, начиная с верхнего правого угла. </a:t>
            </a:r>
          </a:p>
          <a:p>
            <a:r>
              <a:rPr lang="ru-RU" dirty="0" smtClean="0"/>
              <a:t>Для максимальной эффективности рекомендуется использовать как можно больше разных цветов, символов, рисунков, которые способствуют формированию множества образов в мозге и быстрому усвоению информации.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7108" name="Picture 4" descr="Картинки по запросу примеры интеллект карт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80512" cy="68853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Области применения интеллект - карт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Подготовка презентаций и выступлений</a:t>
            </a:r>
          </a:p>
          <a:p>
            <a:r>
              <a:rPr lang="ru-RU" dirty="0" smtClean="0"/>
              <a:t>Принятие решений</a:t>
            </a:r>
          </a:p>
          <a:p>
            <a:r>
              <a:rPr lang="ru-RU" dirty="0" smtClean="0"/>
              <a:t>Планирование </a:t>
            </a:r>
          </a:p>
          <a:p>
            <a:r>
              <a:rPr lang="ru-RU" dirty="0" smtClean="0"/>
              <a:t>Мозговой штурм</a:t>
            </a:r>
          </a:p>
          <a:p>
            <a:r>
              <a:rPr lang="ru-RU" dirty="0" smtClean="0"/>
              <a:t>Структурирование стандартов, регламентов и другой информации.</a:t>
            </a:r>
            <a:endParaRPr lang="ru-RU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1" dirty="0" smtClean="0"/>
              <a:t> </a:t>
            </a:r>
            <a:r>
              <a:rPr lang="ru-RU" dirty="0" smtClean="0"/>
              <a:t>3.</a:t>
            </a:r>
            <a:r>
              <a:rPr lang="ru-RU" sz="2700" dirty="0" smtClean="0"/>
              <a:t>Инструменты решения трудоемких задач</a:t>
            </a:r>
            <a:r>
              <a:rPr lang="ru-RU" b="1" i="1" dirty="0" smtClean="0"/>
              <a:t/>
            </a:r>
            <a:br>
              <a:rPr lang="ru-RU" b="1" i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если задача большая, сложная и не имеет жестких сроков исполнения, человеку трудно заставить себя ее сделать. Такие крупные энергоемкие задачи в терминологии </a:t>
            </a:r>
            <a:r>
              <a:rPr lang="ru-RU" dirty="0" err="1" smtClean="0"/>
              <a:t>тайм-менеджмента</a:t>
            </a:r>
            <a:r>
              <a:rPr lang="ru-RU" dirty="0" smtClean="0"/>
              <a:t> называются «задачами-слонами».</a:t>
            </a:r>
          </a:p>
          <a:p>
            <a:pPr>
              <a:buNone/>
            </a:pPr>
            <a:r>
              <a:rPr lang="ru-RU" dirty="0" smtClean="0"/>
              <a:t>   </a:t>
            </a:r>
            <a:r>
              <a:rPr lang="ru-RU" b="1" i="1" dirty="0" smtClean="0">
                <a:solidFill>
                  <a:srgbClr val="002060"/>
                </a:solidFill>
              </a:rPr>
              <a:t>«Задачи-слоны»</a:t>
            </a:r>
            <a:r>
              <a:rPr lang="ru-RU" dirty="0" smtClean="0">
                <a:solidFill>
                  <a:srgbClr val="002060"/>
                </a:solidFill>
              </a:rPr>
              <a:t> – крупные, сложные, требующие больших усилий задачи, иногда не имеющие жесткого срока исполнения.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48130" name="Picture 2" descr="Картинки по запросу нарисованный слон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077072"/>
            <a:ext cx="2595761" cy="22758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Суть проблемы «задач-слонов»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/>
          </a:bodyPr>
          <a:lstStyle/>
          <a:p>
            <a:r>
              <a:rPr lang="ru-RU" dirty="0" smtClean="0"/>
              <a:t> «Задачи-слоны» не имеют жесткой привязки к сроку или являются долгосрочными (полгода, год, два и т.д.). (</a:t>
            </a:r>
            <a:r>
              <a:rPr lang="ru-RU" i="1" dirty="0" smtClean="0"/>
              <a:t>Соответственно, в процессе работы над такими задачами неизбежно происходит снижение мотивации к ее выполнению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9628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техника «нарезкой слона»,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620688"/>
            <a:ext cx="8229600" cy="5536272"/>
          </a:xfrm>
        </p:spPr>
        <p:txBody>
          <a:bodyPr>
            <a:normAutofit/>
          </a:bodyPr>
          <a:lstStyle/>
          <a:p>
            <a:r>
              <a:rPr lang="ru-RU" dirty="0" smtClean="0"/>
              <a:t>способ решить сложную «задачу-слона» – это увидеть результат от минимальных шагов, ведущих к достижению цели. </a:t>
            </a:r>
          </a:p>
          <a:p>
            <a:r>
              <a:rPr lang="ru-RU" dirty="0" smtClean="0"/>
              <a:t>Для этого «задачу-слона» необходимо разделить на подзадачи, решая которые можно достаточно быстро получать видимые результаты предпринимаемых усилий. </a:t>
            </a:r>
          </a:p>
          <a:p>
            <a:r>
              <a:rPr lang="ru-RU" dirty="0" smtClean="0"/>
              <a:t>Если подзадача оказалась трудоемкой, требующей большого ресурса времени на выполнение, стоит разделить ее на более мелкие задачи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Размер подзадачи должен быть таким, чтобы ее можно было решить за один раз (в течение одного дня). </a:t>
            </a:r>
          </a:p>
          <a:p>
            <a:r>
              <a:rPr lang="ru-RU" dirty="0" smtClean="0"/>
              <a:t>В </a:t>
            </a:r>
            <a:r>
              <a:rPr lang="ru-RU" dirty="0" err="1" smtClean="0"/>
              <a:t>тайм-менеджменте</a:t>
            </a:r>
            <a:r>
              <a:rPr lang="ru-RU" dirty="0" smtClean="0"/>
              <a:t> данные подзадачи называются «бифштексами». </a:t>
            </a:r>
          </a:p>
          <a:p>
            <a:endParaRPr lang="ru-RU" dirty="0"/>
          </a:p>
        </p:txBody>
      </p:sp>
      <p:pic>
        <p:nvPicPr>
          <p:cNvPr id="4" name="Picture 2" descr="Картинки по запросу задачи слоны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7" y="3933056"/>
            <a:ext cx="3526825" cy="23001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/>
              <a:t>«Бифштексы» могут быть «иллюзорными» и «реальными». Для того чтобы стать реальным, «бифштекс» должен соответствовать SMART-критериям.</a:t>
            </a:r>
          </a:p>
          <a:p>
            <a:pPr>
              <a:buNone/>
            </a:pPr>
            <a:r>
              <a:rPr lang="ru-RU" dirty="0" smtClean="0"/>
              <a:t>     Примеры: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«Иллюзорный бифштекс»: учить английский язык.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«Реальный бифштекс»: каждый день учить по одному грамматическому правилу и делать три упражнения по нему.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*«Швейцарский сыр»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Этот метод помогает сократить время на раскачку и без лишних временных затрат и усилий включиться в решение сложных, энергоемких задач.</a:t>
            </a:r>
            <a:endParaRPr lang="ru-RU" dirty="0"/>
          </a:p>
        </p:txBody>
      </p:sp>
      <p:pic>
        <p:nvPicPr>
          <p:cNvPr id="1026" name="Picture 2" descr="Похожее изображени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3140968"/>
            <a:ext cx="4260304" cy="27990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Суть метода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задача выполняется не в логическом, а в произвольном порядке.</a:t>
            </a:r>
          </a:p>
          <a:p>
            <a:r>
              <a:rPr lang="ru-RU" dirty="0" smtClean="0"/>
              <a:t> </a:t>
            </a:r>
            <a:r>
              <a:rPr lang="ru-RU" dirty="0" smtClean="0">
                <a:solidFill>
                  <a:srgbClr val="002060"/>
                </a:solidFill>
              </a:rPr>
              <a:t>Попробуйте «выгрызать» маленькие кусочки из большого дела</a:t>
            </a:r>
            <a:r>
              <a:rPr lang="ru-RU" dirty="0" smtClean="0"/>
              <a:t>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2060"/>
                </a:solidFill>
              </a:rPr>
              <a:t>при подготовке диплома или реферата оформите титульный лист, напишите несколько понятных, простых абзацев, подберите иллюстрации, составьте графики, таблицы и т.д. </a:t>
            </a:r>
            <a:endParaRPr lang="ru-RU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1" dirty="0" smtClean="0"/>
              <a:t>*Решение мелких неприятных задач</a:t>
            </a:r>
            <a:br>
              <a:rPr lang="ru-RU" b="1" i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b="1" i="1" dirty="0" smtClean="0"/>
              <a:t>«Лягушки»</a:t>
            </a:r>
            <a:r>
              <a:rPr lang="ru-RU" dirty="0" smtClean="0"/>
              <a:t> – мелкие, неприятные задачи, не требующие много времени и сил для их решения.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Пример: вызвать сантехника; сказать нервному клиенту, что его заказ не будет выполнен в срок; оплатить счет за ЖКХ и т.д. </a:t>
            </a:r>
          </a:p>
        </p:txBody>
      </p:sp>
      <p:pic>
        <p:nvPicPr>
          <p:cNvPr id="60418" name="Picture 2" descr="Похожее изображени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3356992"/>
            <a:ext cx="3131840" cy="28666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Особенность лягушек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Подобные задачи не требуют ни больших </a:t>
            </a:r>
            <a:r>
              <a:rPr lang="ru-RU" dirty="0" err="1" smtClean="0"/>
              <a:t>энергозатрат</a:t>
            </a:r>
            <a:r>
              <a:rPr lang="ru-RU" dirty="0" smtClean="0"/>
              <a:t>, ни приложения значительных усилий, ни интеллектуального напряжения</a:t>
            </a:r>
          </a:p>
          <a:p>
            <a:r>
              <a:rPr lang="ru-RU" dirty="0" smtClean="0"/>
              <a:t>·      выполнение вызывает неприятные эмоции;</a:t>
            </a:r>
          </a:p>
          <a:p>
            <a:r>
              <a:rPr lang="ru-RU" dirty="0" smtClean="0"/>
              <a:t>·     трудно найти причину, которая позволит относиться к этому делу с энтузиазмом;</a:t>
            </a:r>
          </a:p>
          <a:p>
            <a:r>
              <a:rPr lang="ru-RU" dirty="0" smtClean="0"/>
              <a:t>·     объективно (если отключить эмоции) оно несложное.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u="sng" dirty="0" smtClean="0"/>
              <a:t>Техника работы с «лягушками»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«Каждое утро съедай по одной лягушке, тогда весь день будешь чувствовать себя победителем»</a:t>
            </a:r>
          </a:p>
          <a:p>
            <a:r>
              <a:rPr lang="ru-RU" dirty="0" smtClean="0"/>
              <a:t>Лучший способ справиться с «лягушками» – каждый день с утра сделать одно маленькое неприятное дело.</a:t>
            </a:r>
          </a:p>
          <a:p>
            <a:r>
              <a:rPr lang="ru-RU" dirty="0" smtClean="0"/>
              <a:t>Следование такому образу действия не позволит вам отравлять себе весь день напоминанием о предстоящей «лягушке».</a:t>
            </a:r>
            <a:endParaRPr lang="ru-RU" dirty="0"/>
          </a:p>
        </p:txBody>
      </p:sp>
      <p:pic>
        <p:nvPicPr>
          <p:cNvPr id="58370" name="Picture 2" descr="Похожее изображени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3724" y="3789040"/>
            <a:ext cx="4270276" cy="30689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Понятие контроля в </a:t>
            </a:r>
            <a:r>
              <a:rPr lang="ru-RU" dirty="0" err="1" smtClean="0"/>
              <a:t>тайм-менеджменте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Контроль - процесс определения, оценки и информации об отклонениях действительных значений от заданных или их совпадении и результатах анализа. </a:t>
            </a:r>
          </a:p>
          <a:p>
            <a:pPr algn="just"/>
            <a:r>
              <a:rPr lang="ru-RU" dirty="0" smtClean="0"/>
              <a:t>Контролировать можно: цели, ход выполнения плана (цель/будет), прогнозы, развитие процесса (будет/есть).</a:t>
            </a:r>
            <a:endParaRPr lang="ru-RU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Контроль, как правило проводится в несколько этапов: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sz="2800" dirty="0" smtClean="0"/>
              <a:t>1) определение необходимых критериев контроля, сроков и методов его осуществления;</a:t>
            </a:r>
          </a:p>
          <a:p>
            <a:pPr algn="just"/>
            <a:r>
              <a:rPr lang="ru-RU" sz="2800" dirty="0" smtClean="0"/>
              <a:t>2) создание математической или графической модели процесса контроля над потоками ресурсов и резервов и установление "точек контроля";</a:t>
            </a:r>
          </a:p>
          <a:p>
            <a:pPr algn="just"/>
            <a:r>
              <a:rPr lang="ru-RU" sz="2800" dirty="0" smtClean="0"/>
              <a:t>3) получение информации (снятие информации), анализ данных и выявление причин отклонений;</a:t>
            </a:r>
          </a:p>
          <a:p>
            <a:pPr algn="just"/>
            <a:r>
              <a:rPr lang="ru-RU" sz="2800" dirty="0" smtClean="0"/>
              <a:t>4) корректировка на основе полученной информации.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Способы контроля в </a:t>
            </a:r>
            <a:r>
              <a:rPr lang="ru-RU" dirty="0" err="1" smtClean="0"/>
              <a:t>тайм-менеджменте</a:t>
            </a:r>
            <a:r>
              <a:rPr lang="ru-RU" dirty="0" smtClean="0"/>
              <a:t> </a:t>
            </a:r>
            <a:endParaRPr lang="ru-RU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sz="quarter" idx="1"/>
          </p:nvPr>
        </p:nvGraphicFramePr>
        <p:xfrm>
          <a:off x="457200" y="1219200"/>
          <a:ext cx="82296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Вид контроля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Процесс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Результат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Самоконтроль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/>
                        <a:t> Ведение хронометража Ведение органайзера Фиксация помех Использование интуиции Создание временной среды и памяток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Ежедневный экспресс-анализ качества времени Анализ достигнутых целей 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Анализ успехов/неудач Подведение итогов 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Внешний контроль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Письменная фиксация договоренностей Взаимные обязательства Использование «контролеров времени»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Устная или письменная отчетность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Получение оценки и обратной связи Использование консультантов 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2. </a:t>
            </a:r>
            <a:r>
              <a:rPr lang="ru-RU" dirty="0" err="1" smtClean="0"/>
              <a:t>Лотар</a:t>
            </a:r>
            <a:r>
              <a:rPr lang="ru-RU" dirty="0" smtClean="0"/>
              <a:t> </a:t>
            </a:r>
            <a:r>
              <a:rPr lang="ru-RU" dirty="0" err="1" smtClean="0"/>
              <a:t>Зайверт</a:t>
            </a:r>
            <a:r>
              <a:rPr lang="ru-RU" dirty="0" smtClean="0"/>
              <a:t> «метод пяти пальцев». 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 Метод является </a:t>
            </a:r>
          </a:p>
          <a:p>
            <a:pPr>
              <a:buNone/>
            </a:pPr>
            <a:r>
              <a:rPr lang="ru-RU" dirty="0" smtClean="0"/>
              <a:t>элементарной техникой, в </a:t>
            </a:r>
          </a:p>
          <a:p>
            <a:pPr>
              <a:buNone/>
            </a:pPr>
            <a:r>
              <a:rPr lang="ru-RU" dirty="0" smtClean="0"/>
              <a:t>которой за каждым пальцем </a:t>
            </a:r>
          </a:p>
          <a:p>
            <a:pPr>
              <a:buNone/>
            </a:pPr>
            <a:r>
              <a:rPr lang="ru-RU" dirty="0" smtClean="0"/>
              <a:t>руки закреплен один из </a:t>
            </a:r>
          </a:p>
          <a:p>
            <a:pPr>
              <a:buNone/>
            </a:pPr>
            <a:r>
              <a:rPr lang="ru-RU" dirty="0" smtClean="0"/>
              <a:t>контролируемых параметров </a:t>
            </a:r>
          </a:p>
          <a:p>
            <a:pPr>
              <a:buNone/>
            </a:pPr>
            <a:r>
              <a:rPr lang="ru-RU" dirty="0" smtClean="0"/>
              <a:t>качества достижения </a:t>
            </a:r>
          </a:p>
          <a:p>
            <a:pPr>
              <a:buNone/>
            </a:pPr>
            <a:r>
              <a:rPr lang="ru-RU" dirty="0" smtClean="0"/>
              <a:t>поставленной цели.</a:t>
            </a:r>
            <a:endParaRPr lang="ru-RU" dirty="0"/>
          </a:p>
        </p:txBody>
      </p:sp>
      <p:pic>
        <p:nvPicPr>
          <p:cNvPr id="22530" name="Picture 2" descr="Картинки по запросу Лотар Зайверт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908720"/>
            <a:ext cx="3816424" cy="3384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8568952" cy="6597352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М </a:t>
            </a:r>
            <a:r>
              <a:rPr lang="ru-RU" sz="2800" dirty="0" smtClean="0">
                <a:solidFill>
                  <a:srgbClr val="002060"/>
                </a:solidFill>
              </a:rPr>
              <a:t>(мизинец) — мысли, знания, информация. Мыслительный процесс. </a:t>
            </a:r>
            <a:r>
              <a:rPr lang="ru-RU" sz="2800" dirty="0" smtClean="0"/>
              <a:t>Что нового я сегодня узнал? Какие знания приобрел? В чем возросла моя компетентность, усилился профессионализм? Какие новые и важные идеи сегодня меня озарили? 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Б </a:t>
            </a:r>
            <a:r>
              <a:rPr lang="ru-RU" sz="2800" dirty="0" smtClean="0">
                <a:solidFill>
                  <a:srgbClr val="002060"/>
                </a:solidFill>
              </a:rPr>
              <a:t>(безымянный) — близость к цели. </a:t>
            </a:r>
            <a:r>
              <a:rPr lang="ru-RU" sz="2800" dirty="0" smtClean="0"/>
              <a:t>Что я сегодня сделал и чего я достиг? 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С </a:t>
            </a:r>
            <a:r>
              <a:rPr lang="ru-RU" sz="2800" dirty="0" smtClean="0">
                <a:solidFill>
                  <a:srgbClr val="002060"/>
                </a:solidFill>
              </a:rPr>
              <a:t>(средний палец) — состояние духа. </a:t>
            </a:r>
            <a:r>
              <a:rPr lang="ru-RU" sz="2800" dirty="0" smtClean="0"/>
              <a:t>Каким было сегодня мое преобладающее настроение, расположение духа? Что было связано с положительными эмоциями и высокой мотивацией? 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2060"/>
                </a:solidFill>
              </a:rPr>
              <a:t>У </a:t>
            </a:r>
            <a:r>
              <a:rPr lang="ru-RU" dirty="0" smtClean="0">
                <a:solidFill>
                  <a:srgbClr val="002060"/>
                </a:solidFill>
              </a:rPr>
              <a:t>(указательный) — услуга, помощь. Сотрудничество. </a:t>
            </a:r>
            <a:r>
              <a:rPr lang="ru-RU" dirty="0" smtClean="0"/>
              <a:t>Чем я сегодня помог другим? Познакомился ли я с новыми людьми? Улучшились ли мои взаимоотношения с коллегами (или наоборот)? С кем возник конфликт?</a:t>
            </a:r>
          </a:p>
          <a:p>
            <a:r>
              <a:rPr lang="ru-RU" dirty="0" smtClean="0"/>
              <a:t> </a:t>
            </a:r>
            <a:r>
              <a:rPr lang="ru-RU" dirty="0" smtClean="0">
                <a:solidFill>
                  <a:srgbClr val="002060"/>
                </a:solidFill>
              </a:rPr>
              <a:t>Б </a:t>
            </a:r>
            <a:r>
              <a:rPr lang="ru-RU" dirty="0" smtClean="0">
                <a:solidFill>
                  <a:srgbClr val="002060"/>
                </a:solidFill>
              </a:rPr>
              <a:t>(большой палец) — бодрость, физическое состояние. </a:t>
            </a:r>
            <a:r>
              <a:rPr lang="ru-RU" dirty="0" smtClean="0"/>
              <a:t>Что я сделал сегодня для моего здоровья, поддерживания моих физических сил? Что позволило отдохнуть, восстановить силы? Что сделано сегодня мною для поддержания здоровья, физической формы?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ru-RU" dirty="0" smtClean="0"/>
              <a:t>«Пятипальцевый» метод итогового контроля удобен прежде всего своей компактностью — он дает возможность быстро и качественно проконтролировать наиболее значимые итоги дня. </a:t>
            </a:r>
          </a:p>
          <a:p>
            <a:pPr>
              <a:buNone/>
            </a:pP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25602" name="Picture 2" descr="Картинки по запросу Лотар Зайверт метод пяти пальцев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5063" y="3933056"/>
            <a:ext cx="4925516" cy="24627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73</TotalTime>
  <Words>3656</Words>
  <Application>Microsoft Office PowerPoint</Application>
  <PresentationFormat>Экран (4:3)</PresentationFormat>
  <Paragraphs>300</Paragraphs>
  <Slides>86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86</vt:i4>
      </vt:variant>
    </vt:vector>
  </HeadingPairs>
  <TitlesOfParts>
    <vt:vector size="93" baseType="lpstr">
      <vt:lpstr>Bookman Old Style</vt:lpstr>
      <vt:lpstr>Calibri</vt:lpstr>
      <vt:lpstr>Cambria</vt:lpstr>
      <vt:lpstr>Gill Sans MT</vt:lpstr>
      <vt:lpstr>Wingdings</vt:lpstr>
      <vt:lpstr>Wingdings 3</vt:lpstr>
      <vt:lpstr>Начальная</vt:lpstr>
      <vt:lpstr>Тайм –менеджмент. Основные понятия и инструменты</vt:lpstr>
      <vt:lpstr>1.  Определение тайм-менеджмента</vt:lpstr>
      <vt:lpstr>Презентация PowerPoint</vt:lpstr>
      <vt:lpstr>Принципы  тайм – менеджмента </vt:lpstr>
      <vt:lpstr>Презентация PowerPoint</vt:lpstr>
      <vt:lpstr>Презентация PowerPoint</vt:lpstr>
      <vt:lpstr>Презентация PowerPoint</vt:lpstr>
      <vt:lpstr>Принципы тайм -менеджмента</vt:lpstr>
      <vt:lpstr>Презентация PowerPoint</vt:lpstr>
      <vt:lpstr>Этапы тайм-менеджмента</vt:lpstr>
      <vt:lpstr>1.1.  Цели. Постановка целей.</vt:lpstr>
      <vt:lpstr>Презентация PowerPoint</vt:lpstr>
      <vt:lpstr>Виды целей</vt:lpstr>
      <vt:lpstr>Иерархия целей </vt:lpstr>
      <vt:lpstr>Техника SMART</vt:lpstr>
      <vt:lpstr>Презентация PowerPoint</vt:lpstr>
      <vt:lpstr>M - measurable, meaningful, motivational - измеримая, значимая, мотивирующая.</vt:lpstr>
      <vt:lpstr>A - attainable, agreed upon, achievable, acceptable, action-oriented - достижимая, согласованная, ориентированная на конкретные действия.</vt:lpstr>
      <vt:lpstr>R- Relevant (realistic) (Актуальный)</vt:lpstr>
      <vt:lpstr>T - time-based, timely, tangible, trackable - на определенный период, своевременная, отслеживаемая.</vt:lpstr>
      <vt:lpstr>Презентация PowerPoint</vt:lpstr>
      <vt:lpstr>Презентация PowerPoint</vt:lpstr>
      <vt:lpstr>  Хронометраж</vt:lpstr>
      <vt:lpstr>Презентация PowerPoint</vt:lpstr>
      <vt:lpstr>Поглотители времени:  </vt:lpstr>
      <vt:lpstr>Техника хронометража </vt:lpstr>
      <vt:lpstr>Планирование. Инструменты планирования</vt:lpstr>
      <vt:lpstr>Планирование в самом общем виде подразумевает выполнение следующих этапов: </vt:lpstr>
      <vt:lpstr>1. Контекстное планирование</vt:lpstr>
      <vt:lpstr> в тайм-менеджменте используются два разных понятия для обозначения времени. </vt:lpstr>
      <vt:lpstr>Презентация PowerPoint</vt:lpstr>
      <vt:lpstr>Презентация PowerPoint</vt:lpstr>
      <vt:lpstr>Все контексты условно можно разделить на четыре группы: </vt:lpstr>
      <vt:lpstr>*Вывод:</vt:lpstr>
      <vt:lpstr>Техника контекстного планирования</vt:lpstr>
      <vt:lpstr>2. Матрица Эйзенхауэра.</vt:lpstr>
      <vt:lpstr>Матрица Эйзенхауэра.</vt:lpstr>
      <vt:lpstr>Презентация PowerPoint</vt:lpstr>
      <vt:lpstr>Презентация PowerPoint</vt:lpstr>
      <vt:lpstr>Презентация PowerPoint</vt:lpstr>
      <vt:lpstr>Презентация PowerPoint</vt:lpstr>
      <vt:lpstr>3. Pomodoro</vt:lpstr>
      <vt:lpstr>Презентация PowerPoint</vt:lpstr>
      <vt:lpstr>Вывод </vt:lpstr>
      <vt:lpstr>Принятие решений </vt:lpstr>
      <vt:lpstr>Виды решений</vt:lpstr>
      <vt:lpstr>Особенности</vt:lpstr>
      <vt:lpstr>Основными особенностями стратегических решений являются следующие:</vt:lpstr>
      <vt:lpstr>Принятие оперативных решений</vt:lpstr>
      <vt:lpstr>Техника принятия решений </vt:lpstr>
      <vt:lpstr>2.Обзор задач и его роль в принятии решений.</vt:lpstr>
      <vt:lpstr>Презентация PowerPoint</vt:lpstr>
      <vt:lpstr>Группы инструментов обзора в тайм - менеджменте </vt:lpstr>
      <vt:lpstr>Генри Л. Гант</vt:lpstr>
      <vt:lpstr>Презентация PowerPoint</vt:lpstr>
      <vt:lpstr>Суть инструмента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Технология майнд-менеджмента с использованием интеллект-карт </vt:lpstr>
      <vt:lpstr>Презентация PowerPoint</vt:lpstr>
      <vt:lpstr>Презентация PowerPoint</vt:lpstr>
      <vt:lpstr>Правила создания Интеллект-карт:</vt:lpstr>
      <vt:lpstr>Правила построения интеллект-карт </vt:lpstr>
      <vt:lpstr>Презентация PowerPoint</vt:lpstr>
      <vt:lpstr>Области применения интеллект - карт</vt:lpstr>
      <vt:lpstr> 3.Инструменты решения трудоемких задач </vt:lpstr>
      <vt:lpstr>Суть проблемы «задач-слонов»</vt:lpstr>
      <vt:lpstr>техника «нарезкой слона», </vt:lpstr>
      <vt:lpstr>Презентация PowerPoint</vt:lpstr>
      <vt:lpstr>Презентация PowerPoint</vt:lpstr>
      <vt:lpstr>*«Швейцарский сыр»</vt:lpstr>
      <vt:lpstr>Суть метода</vt:lpstr>
      <vt:lpstr>Пример</vt:lpstr>
      <vt:lpstr>*Решение мелких неприятных задач </vt:lpstr>
      <vt:lpstr>Особенность лягушек</vt:lpstr>
      <vt:lpstr>Техника работы с «лягушками»</vt:lpstr>
      <vt:lpstr>Понятие контроля в тайм-менеджменте</vt:lpstr>
      <vt:lpstr>Контроль, как правило проводится в несколько этапов:</vt:lpstr>
      <vt:lpstr>Способы контроля в тайм-менеджменте </vt:lpstr>
      <vt:lpstr>2. Лотар Зайверт «метод пяти пальцев».  </vt:lpstr>
      <vt:lpstr>Презентация PowerPoint</vt:lpstr>
      <vt:lpstr>Презентация PowerPoint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Тайм –менеджмент. Основные понятия и инструменты</dc:title>
  <dc:creator>Anna</dc:creator>
  <cp:lastModifiedBy>Чижик Евгения Евгеньевна</cp:lastModifiedBy>
  <cp:revision>5</cp:revision>
  <dcterms:created xsi:type="dcterms:W3CDTF">2018-01-24T06:45:22Z</dcterms:created>
  <dcterms:modified xsi:type="dcterms:W3CDTF">2025-10-06T08:27:23Z</dcterms:modified>
</cp:coreProperties>
</file>